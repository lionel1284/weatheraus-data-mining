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proyecto como una solución de minería de datos para analizar registros climáticos de Australia, evaluar modelos predictivos y visualizar resultados en Power BI para apoyar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se trabajó con un dataset meteorológico de Australia. El objetivo no fue solo predecir, sino analizar el comportamiento climático desde tres perspectivas: clasificación, regresión y segmentación.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CRISP-DM con el proyecto completo. Destacar que la etapa final no es solo mostrar gráficos, sino transformar el análisis técnico en información comprensible para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la calidad de datos fue una fase central: eliminación de variables con nulos críticos, imputación, codificación, tratamiento de outliers, escalamiento y partición 80/20. Resaltar RISK_MM como variable excluida para evitar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las técnicas como complementarias: clasificación para la variable principal RainTomorrow, regresión para milímetros de lluvia y K-Means para perfiles climáticos. Mencionar que el Árbol usa variables meteorológicas, ubicación y estacionalidad.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Defender por qué el Árbol de Decisión es el mejor modelo supervisado. El Modelo Base tiene buen accuracy por desbalance, pero no detecta lluvia. El Árbol logra una detección más útil de la clase 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la Regresión Lineal no fue el modelo principal, porque su capacidad explicativa fue limitada. En cambio, K-Means ayudó a descubrir perfiles climáticos, aunque debe leerse como una segmentación exploratoria.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Power BI es la fase de difusión y uso. No reemplaza al notebook, sino que convierte los resultados en indicadores visuales para usuarios finales.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los gráficos con decisiones concretas. La visualización territorial permite identificar dónde llueve más, dónde el modelo se equivoca más y dónde conviene monitorear con mayor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las recomendaciones principales: utilizar el árbol como herramienta de apoyo, priorizar zonas críticas, calibrar el modelo y automatizar el flujo con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a_wide_dark_blue_digital_infographic_background.png"/>
          <p:cNvPicPr>
            <a:picLocks noChangeAspect="1"/>
          </p:cNvPicPr>
          <p:nvPr/>
        </p:nvPicPr>
        <p:blipFill>
          <a:blip r:embed="rId1"/>
          <a:srcRect t="25" b="25"/>
          <a:stretch>
            <a:fillRect/>
          </a:stretch>
        </p:blipFill>
        <p:spPr>
          <a:xfrm>
            <a:off x="0" y="0"/>
            <a:ext cx="12191695" cy="6858000"/>
          </a:xfrm>
          <a:prstGeom prst="rect">
            <a:avLst/>
          </a:prstGeom>
        </p:spPr>
      </p:pic>
      <p:sp>
        <p:nvSpPr>
          <p:cNvPr id="3" name="Text 0"/>
          <p:cNvSpPr/>
          <p:nvPr/>
        </p:nvSpPr>
        <p:spPr>
          <a:xfrm>
            <a:off x="685800" y="822960"/>
            <a:ext cx="5486400" cy="1143000"/>
          </a:xfrm>
          <a:prstGeom prst="rect">
            <a:avLst/>
          </a:prstGeom>
          <a:noFill/>
        </p:spPr>
        <p:txBody>
          <a:bodyPr wrap="square" lIns="0" tIns="0" rIns="0" bIns="0" rtlCol="0" anchor="ctr"/>
          <a:lstStyle/>
          <a:p>
            <a:pPr marL="0" indent="0">
              <a:buNone/>
            </a:pPr>
            <a:r>
              <a:rPr lang="en-US" sz="3800" b="1" dirty="0">
                <a:solidFill>
                  <a:srgbClr val="FFFFFF"/>
                </a:solidFill>
              </a:rPr>
              <a:t>Análisis Predictivo de</a:t>
            </a:r>
            <a:endParaRPr lang="en-US" sz="3800" dirty="0"/>
          </a:p>
          <a:p>
            <a:pPr marL="0" indent="0">
              <a:buNone/>
            </a:pPr>
            <a:r>
              <a:rPr lang="en-US" sz="3800" b="1" dirty="0">
                <a:solidFill>
                  <a:srgbClr val="FFFFFF"/>
                </a:solidFill>
              </a:rPr>
              <a:t>Lluvia en Australia</a:t>
            </a:r>
            <a:endParaRPr lang="en-US" sz="3800" dirty="0"/>
          </a:p>
        </p:txBody>
      </p:sp>
      <p:sp>
        <p:nvSpPr>
          <p:cNvPr id="4" name="Text 1"/>
          <p:cNvSpPr/>
          <p:nvPr/>
        </p:nvSpPr>
        <p:spPr>
          <a:xfrm>
            <a:off x="713232" y="2148840"/>
            <a:ext cx="5669280" cy="292608"/>
          </a:xfrm>
          <a:prstGeom prst="rect">
            <a:avLst/>
          </a:prstGeom>
          <a:noFill/>
        </p:spPr>
        <p:txBody>
          <a:bodyPr wrap="square" lIns="0" tIns="0" rIns="0" bIns="0" rtlCol="0" anchor="ctr"/>
          <a:lstStyle/>
          <a:p>
            <a:pPr marL="0" indent="0">
              <a:buNone/>
            </a:pPr>
            <a:r>
              <a:rPr lang="en-US" sz="1400" dirty="0">
                <a:solidFill>
                  <a:srgbClr val="D8F4FF"/>
                </a:solidFill>
              </a:rPr>
              <a:t>Minería de Datos aplicada con CRISP-DM y visualización en Power BI</a:t>
            </a:r>
            <a:endParaRPr lang="en-US" sz="1400" dirty="0"/>
          </a:p>
        </p:txBody>
      </p:sp>
      <p:sp>
        <p:nvSpPr>
          <p:cNvPr id="5" name="Shape 2"/>
          <p:cNvSpPr/>
          <p:nvPr/>
        </p:nvSpPr>
        <p:spPr>
          <a:xfrm>
            <a:off x="731520" y="2606040"/>
            <a:ext cx="2926080" cy="0"/>
          </a:xfrm>
          <a:prstGeom prst="line">
            <a:avLst/>
          </a:prstGeom>
          <a:noFill/>
          <a:ln w="38100">
            <a:solidFill>
              <a:srgbClr val="53D5F6"/>
            </a:solidFill>
            <a:prstDash val="solid"/>
          </a:ln>
        </p:spPr>
      </p:sp>
      <p:sp>
        <p:nvSpPr>
          <p:cNvPr id="6" name="Shape 3"/>
          <p:cNvSpPr/>
          <p:nvPr/>
        </p:nvSpPr>
        <p:spPr>
          <a:xfrm>
            <a:off x="731520" y="5102352"/>
            <a:ext cx="150876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7" name="Text 4"/>
          <p:cNvSpPr/>
          <p:nvPr/>
        </p:nvSpPr>
        <p:spPr>
          <a:xfrm>
            <a:off x="822960" y="5212080"/>
            <a:ext cx="1325880" cy="228600"/>
          </a:xfrm>
          <a:prstGeom prst="rect">
            <a:avLst/>
          </a:prstGeom>
          <a:noFill/>
        </p:spPr>
        <p:txBody>
          <a:bodyPr wrap="square" lIns="0" tIns="0" rIns="0" bIns="0" rtlCol="0" anchor="ctr"/>
          <a:lstStyle/>
          <a:p>
            <a:pPr marL="0" indent="0" algn="ctr">
              <a:buNone/>
            </a:pPr>
            <a:r>
              <a:rPr lang="en-US" sz="1700" b="1" dirty="0">
                <a:solidFill>
                  <a:srgbClr val="53D5F6"/>
                </a:solidFill>
              </a:rPr>
              <a:t>142 mil</a:t>
            </a:r>
            <a:endParaRPr lang="en-US" sz="1700" dirty="0"/>
          </a:p>
        </p:txBody>
      </p:sp>
      <p:sp>
        <p:nvSpPr>
          <p:cNvPr id="8" name="Text 5"/>
          <p:cNvSpPr/>
          <p:nvPr/>
        </p:nvSpPr>
        <p:spPr>
          <a:xfrm>
            <a:off x="804672" y="5522976"/>
            <a:ext cx="136245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registros analizados</a:t>
            </a:r>
            <a:endParaRPr lang="en-US" sz="740" dirty="0"/>
          </a:p>
        </p:txBody>
      </p:sp>
      <p:sp>
        <p:nvSpPr>
          <p:cNvPr id="9" name="Shape 6"/>
          <p:cNvSpPr/>
          <p:nvPr/>
        </p:nvSpPr>
        <p:spPr>
          <a:xfrm>
            <a:off x="2377440" y="5102352"/>
            <a:ext cx="150876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10" name="Text 7"/>
          <p:cNvSpPr/>
          <p:nvPr/>
        </p:nvSpPr>
        <p:spPr>
          <a:xfrm>
            <a:off x="2468880" y="5212080"/>
            <a:ext cx="1325880" cy="228600"/>
          </a:xfrm>
          <a:prstGeom prst="rect">
            <a:avLst/>
          </a:prstGeom>
          <a:noFill/>
        </p:spPr>
        <p:txBody>
          <a:bodyPr wrap="square" lIns="0" tIns="0" rIns="0" bIns="0" rtlCol="0" anchor="ctr"/>
          <a:lstStyle/>
          <a:p>
            <a:pPr marL="0" indent="0" algn="ctr">
              <a:buNone/>
            </a:pPr>
            <a:r>
              <a:rPr lang="en-US" sz="1700" b="1" dirty="0">
                <a:solidFill>
                  <a:srgbClr val="53D5F6"/>
                </a:solidFill>
              </a:rPr>
              <a:t>77,82%</a:t>
            </a:r>
            <a:endParaRPr lang="en-US" sz="1700" dirty="0"/>
          </a:p>
        </p:txBody>
      </p:sp>
      <p:sp>
        <p:nvSpPr>
          <p:cNvPr id="11" name="Text 8"/>
          <p:cNvSpPr/>
          <p:nvPr/>
        </p:nvSpPr>
        <p:spPr>
          <a:xfrm>
            <a:off x="2450592" y="5522976"/>
            <a:ext cx="136245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accuracy prueba</a:t>
            </a:r>
            <a:endParaRPr lang="en-US" sz="740" dirty="0"/>
          </a:p>
        </p:txBody>
      </p:sp>
      <p:sp>
        <p:nvSpPr>
          <p:cNvPr id="12" name="Shape 9"/>
          <p:cNvSpPr/>
          <p:nvPr/>
        </p:nvSpPr>
        <p:spPr>
          <a:xfrm>
            <a:off x="4023360" y="5102352"/>
            <a:ext cx="150876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13" name="Text 10"/>
          <p:cNvSpPr/>
          <p:nvPr/>
        </p:nvSpPr>
        <p:spPr>
          <a:xfrm>
            <a:off x="4114800" y="5212080"/>
            <a:ext cx="1325880" cy="228600"/>
          </a:xfrm>
          <a:prstGeom prst="rect">
            <a:avLst/>
          </a:prstGeom>
          <a:noFill/>
        </p:spPr>
        <p:txBody>
          <a:bodyPr wrap="square" lIns="0" tIns="0" rIns="0" bIns="0" rtlCol="0" anchor="ctr"/>
          <a:lstStyle/>
          <a:p>
            <a:pPr marL="0" indent="0" algn="ctr">
              <a:buNone/>
            </a:pPr>
            <a:r>
              <a:rPr lang="en-US" sz="1700" b="1" dirty="0">
                <a:solidFill>
                  <a:srgbClr val="53D5F6"/>
                </a:solidFill>
              </a:rPr>
              <a:t>73,57%</a:t>
            </a:r>
            <a:endParaRPr lang="en-US" sz="1700" dirty="0"/>
          </a:p>
        </p:txBody>
      </p:sp>
      <p:sp>
        <p:nvSpPr>
          <p:cNvPr id="14" name="Text 11"/>
          <p:cNvSpPr/>
          <p:nvPr/>
        </p:nvSpPr>
        <p:spPr>
          <a:xfrm>
            <a:off x="4096512" y="5522976"/>
            <a:ext cx="136245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recall lluvia</a:t>
            </a:r>
            <a:endParaRPr lang="en-US" sz="740" dirty="0"/>
          </a:p>
        </p:txBody>
      </p:sp>
      <p:sp>
        <p:nvSpPr>
          <p:cNvPr id="15" name="Text 12"/>
          <p:cNvSpPr/>
          <p:nvPr/>
        </p:nvSpPr>
        <p:spPr>
          <a:xfrm>
            <a:off x="731520" y="6263640"/>
            <a:ext cx="3200400" cy="256032"/>
          </a:xfrm>
          <a:prstGeom prst="rect">
            <a:avLst/>
          </a:prstGeom>
          <a:noFill/>
        </p:spPr>
        <p:txBody>
          <a:bodyPr wrap="square" lIns="0" tIns="0" rIns="0" bIns="0" rtlCol="0" anchor="ctr"/>
          <a:lstStyle/>
          <a:p>
            <a:pPr marL="0" indent="0">
              <a:buNone/>
            </a:pPr>
            <a:r>
              <a:rPr lang="en-US" sz="1100" dirty="0">
                <a:solidFill>
                  <a:srgbClr val="B8D7F6"/>
                </a:solidFill>
              </a:rPr>
              <a:t>BIY7121 · Minería de Datos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F8FBFF">
                <a:alpha val="0"/>
              </a:srgbClr>
            </a:solidFill>
            <a:prstDash val="solid"/>
          </a:ln>
        </p:spPr>
      </p:sp>
      <p:sp>
        <p:nvSpPr>
          <p:cNvPr id="3" name="Text 1"/>
          <p:cNvSpPr/>
          <p:nvPr/>
        </p:nvSpPr>
        <p:spPr>
          <a:xfrm>
            <a:off x="594360" y="256032"/>
            <a:ext cx="9601200" cy="347472"/>
          </a:xfrm>
          <a:prstGeom prst="rect">
            <a:avLst/>
          </a:prstGeom>
          <a:noFill/>
        </p:spPr>
        <p:txBody>
          <a:bodyPr wrap="square" lIns="0" tIns="0" rIns="0" bIns="0" rtlCol="0" anchor="ctr"/>
          <a:lstStyle/>
          <a:p>
            <a:pPr marL="0" indent="0">
              <a:buNone/>
            </a:pPr>
            <a:r>
              <a:rPr lang="en-US" sz="2500" b="1" dirty="0">
                <a:solidFill>
                  <a:srgbClr val="071A3D"/>
                </a:solidFill>
                <a:latin typeface="Arial" panose="020B0604020202020204" pitchFamily="34" charset="0"/>
                <a:ea typeface="Arial" panose="020B0604020202020204" pitchFamily="34" charset="-122"/>
                <a:cs typeface="Arial" panose="020B0604020202020204" pitchFamily="34" charset="-120"/>
              </a:rPr>
              <a:t>Caso de estudio y objetivo analítico</a:t>
            </a:r>
            <a:endParaRPr lang="en-US" sz="2500" dirty="0"/>
          </a:p>
        </p:txBody>
      </p:sp>
      <p:sp>
        <p:nvSpPr>
          <p:cNvPr id="4" name="Text 2"/>
          <p:cNvSpPr/>
          <p:nvPr/>
        </p:nvSpPr>
        <p:spPr>
          <a:xfrm>
            <a:off x="603504" y="713232"/>
            <a:ext cx="8961120" cy="237744"/>
          </a:xfrm>
          <a:prstGeom prst="rect">
            <a:avLst/>
          </a:prstGeom>
          <a:noFill/>
        </p:spPr>
        <p:txBody>
          <a:bodyPr wrap="square" lIns="0" tIns="0" rIns="0" bIns="0" rtlCol="0" anchor="ctr"/>
          <a:lstStyle/>
          <a:p>
            <a:pPr marL="0" indent="0">
              <a:buNone/>
            </a:pPr>
            <a:r>
              <a:rPr lang="en-US" sz="1050" dirty="0">
                <a:solidFill>
                  <a:srgbClr val="5D6D7E"/>
                </a:solidFill>
                <a:latin typeface="Arial" panose="020B0604020202020204" pitchFamily="34" charset="0"/>
                <a:ea typeface="Arial" panose="020B0604020202020204" pitchFamily="34" charset="-122"/>
                <a:cs typeface="Arial" panose="020B0604020202020204" pitchFamily="34" charset="-120"/>
              </a:rPr>
              <a:t>Predicción de lluvia a partir de observaciones meteorológicas históricas</a:t>
            </a:r>
            <a:endParaRPr lang="en-US" sz="1050" dirty="0"/>
          </a:p>
        </p:txBody>
      </p:sp>
      <p:sp>
        <p:nvSpPr>
          <p:cNvPr id="5" name="Shape 3"/>
          <p:cNvSpPr/>
          <p:nvPr/>
        </p:nvSpPr>
        <p:spPr>
          <a:xfrm>
            <a:off x="594360" y="1024128"/>
            <a:ext cx="10972800" cy="0"/>
          </a:xfrm>
          <a:prstGeom prst="line">
            <a:avLst/>
          </a:prstGeom>
          <a:noFill/>
          <a:ln w="12700">
            <a:solidFill>
              <a:srgbClr val="C9D8EA"/>
            </a:solidFill>
            <a:prstDash val="solid"/>
          </a:ln>
        </p:spPr>
      </p:sp>
      <p:sp>
        <p:nvSpPr>
          <p:cNvPr id="6" name="Text 4"/>
          <p:cNvSpPr/>
          <p:nvPr/>
        </p:nvSpPr>
        <p:spPr>
          <a:xfrm>
            <a:off x="594360" y="6473952"/>
            <a:ext cx="5120640" cy="182880"/>
          </a:xfrm>
          <a:prstGeom prst="rect">
            <a:avLst/>
          </a:prstGeom>
          <a:noFill/>
        </p:spPr>
        <p:txBody>
          <a:bodyPr wrap="square" lIns="0" tIns="0" rIns="0" bIns="0" rtlCol="0" anchor="ctr"/>
          <a:lstStyle/>
          <a:p>
            <a:pPr marL="0" indent="0">
              <a:buNone/>
            </a:pPr>
            <a:r>
              <a:rPr lang="en-US" sz="750" dirty="0">
                <a:solidFill>
                  <a:srgbClr val="708090"/>
                </a:solidFill>
              </a:rPr>
              <a:t>BIY7121 Minería de Datos | Power BI + CRISP-DM</a:t>
            </a:r>
            <a:endParaRPr lang="en-US" sz="750" dirty="0"/>
          </a:p>
        </p:txBody>
      </p:sp>
      <p:sp>
        <p:nvSpPr>
          <p:cNvPr id="7" name="Text 5"/>
          <p:cNvSpPr/>
          <p:nvPr/>
        </p:nvSpPr>
        <p:spPr>
          <a:xfrm>
            <a:off x="11064240" y="6446520"/>
            <a:ext cx="502920" cy="228600"/>
          </a:xfrm>
          <a:prstGeom prst="rect">
            <a:avLst/>
          </a:prstGeom>
          <a:noFill/>
        </p:spPr>
        <p:txBody>
          <a:bodyPr wrap="square" lIns="0" tIns="0" rIns="0" bIns="0" rtlCol="0" anchor="ctr"/>
          <a:lstStyle/>
          <a:p>
            <a:pPr marL="0" indent="0" algn="r">
              <a:buNone/>
            </a:pPr>
            <a:r>
              <a:rPr lang="en-US" sz="850" dirty="0">
                <a:solidFill>
                  <a:srgbClr val="708090"/>
                </a:solidFill>
              </a:rPr>
              <a:t>02</a:t>
            </a:r>
            <a:endParaRPr lang="en-US" sz="850" dirty="0"/>
          </a:p>
        </p:txBody>
      </p:sp>
      <p:sp>
        <p:nvSpPr>
          <p:cNvPr id="8" name="Shape 6"/>
          <p:cNvSpPr/>
          <p:nvPr/>
        </p:nvSpPr>
        <p:spPr>
          <a:xfrm>
            <a:off x="685800" y="1325880"/>
            <a:ext cx="3749040" cy="1417320"/>
          </a:xfrm>
          <a:prstGeom prst="roundRect">
            <a:avLst>
              <a:gd name="adj" fmla="val 5161"/>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9" name="Shape 7"/>
          <p:cNvSpPr/>
          <p:nvPr/>
        </p:nvSpPr>
        <p:spPr>
          <a:xfrm>
            <a:off x="685800" y="1325880"/>
            <a:ext cx="82296" cy="1417320"/>
          </a:xfrm>
          <a:prstGeom prst="rect">
            <a:avLst/>
          </a:prstGeom>
          <a:solidFill>
            <a:srgbClr val="0B5CAD"/>
          </a:solidFill>
          <a:ln w="12700">
            <a:solidFill>
              <a:srgbClr val="0B5CAD"/>
            </a:solidFill>
            <a:prstDash val="solid"/>
          </a:ln>
        </p:spPr>
      </p:sp>
      <p:sp>
        <p:nvSpPr>
          <p:cNvPr id="10" name="Text 8"/>
          <p:cNvSpPr/>
          <p:nvPr/>
        </p:nvSpPr>
        <p:spPr>
          <a:xfrm>
            <a:off x="850392" y="1463040"/>
            <a:ext cx="3456432" cy="201168"/>
          </a:xfrm>
          <a:prstGeom prst="rect">
            <a:avLst/>
          </a:prstGeom>
          <a:noFill/>
        </p:spPr>
        <p:txBody>
          <a:bodyPr wrap="square" lIns="0" tIns="0" rIns="0" bIns="0" rtlCol="0" anchor="ctr"/>
          <a:lstStyle/>
          <a:p>
            <a:pPr marL="0" indent="0">
              <a:buNone/>
            </a:pPr>
            <a:r>
              <a:rPr lang="en-US" sz="1050" b="1" dirty="0">
                <a:solidFill>
                  <a:srgbClr val="071A3D"/>
                </a:solidFill>
              </a:rPr>
              <a:t>Problema analítico</a:t>
            </a:r>
            <a:endParaRPr lang="en-US" sz="1050" dirty="0"/>
          </a:p>
        </p:txBody>
      </p:sp>
      <p:sp>
        <p:nvSpPr>
          <p:cNvPr id="11" name="Text 9"/>
          <p:cNvSpPr/>
          <p:nvPr/>
        </p:nvSpPr>
        <p:spPr>
          <a:xfrm>
            <a:off x="850392" y="1764792"/>
            <a:ext cx="3456432" cy="850392"/>
          </a:xfrm>
          <a:prstGeom prst="rect">
            <a:avLst/>
          </a:prstGeom>
          <a:noFill/>
        </p:spPr>
        <p:txBody>
          <a:bodyPr wrap="square" lIns="127" tIns="127" rIns="127" bIns="127" rtlCol="0" anchor="ctr">
            <a:normAutofit/>
          </a:bodyPr>
          <a:lstStyle/>
          <a:p>
            <a:pPr marL="0" indent="0">
              <a:buNone/>
            </a:pPr>
            <a:r>
              <a:rPr lang="en-US" sz="820" dirty="0">
                <a:solidFill>
                  <a:srgbClr val="111827"/>
                </a:solidFill>
              </a:rPr>
              <a:t>Australia presenta una alta diversidad climática. El comportamiento de la lluvia cambia según la ubicación, por lo que se requiere analizar patrones históricos para anticipar eventos de precipitación.</a:t>
            </a:r>
            <a:endParaRPr lang="en-US" sz="820" dirty="0"/>
          </a:p>
        </p:txBody>
      </p:sp>
      <p:sp>
        <p:nvSpPr>
          <p:cNvPr id="12" name="Shape 10"/>
          <p:cNvSpPr/>
          <p:nvPr/>
        </p:nvSpPr>
        <p:spPr>
          <a:xfrm>
            <a:off x="685800" y="2971800"/>
            <a:ext cx="3749040" cy="1417320"/>
          </a:xfrm>
          <a:prstGeom prst="roundRect">
            <a:avLst>
              <a:gd name="adj" fmla="val 5161"/>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13" name="Shape 11"/>
          <p:cNvSpPr/>
          <p:nvPr/>
        </p:nvSpPr>
        <p:spPr>
          <a:xfrm>
            <a:off x="685800" y="2971800"/>
            <a:ext cx="82296" cy="1417320"/>
          </a:xfrm>
          <a:prstGeom prst="rect">
            <a:avLst/>
          </a:prstGeom>
          <a:solidFill>
            <a:srgbClr val="2A9D8F"/>
          </a:solidFill>
          <a:ln w="12700">
            <a:solidFill>
              <a:srgbClr val="2A9D8F"/>
            </a:solidFill>
            <a:prstDash val="solid"/>
          </a:ln>
        </p:spPr>
      </p:sp>
      <p:sp>
        <p:nvSpPr>
          <p:cNvPr id="14" name="Text 12"/>
          <p:cNvSpPr/>
          <p:nvPr/>
        </p:nvSpPr>
        <p:spPr>
          <a:xfrm>
            <a:off x="850392" y="3108960"/>
            <a:ext cx="3456432" cy="201168"/>
          </a:xfrm>
          <a:prstGeom prst="rect">
            <a:avLst/>
          </a:prstGeom>
          <a:noFill/>
        </p:spPr>
        <p:txBody>
          <a:bodyPr wrap="square" lIns="0" tIns="0" rIns="0" bIns="0" rtlCol="0" anchor="ctr"/>
          <a:lstStyle/>
          <a:p>
            <a:pPr marL="0" indent="0">
              <a:buNone/>
            </a:pPr>
            <a:r>
              <a:rPr lang="en-US" sz="1050" b="1" dirty="0">
                <a:solidFill>
                  <a:srgbClr val="071A3D"/>
                </a:solidFill>
              </a:rPr>
              <a:t>Objetivo del proyecto</a:t>
            </a:r>
            <a:endParaRPr lang="en-US" sz="1050" dirty="0"/>
          </a:p>
        </p:txBody>
      </p:sp>
      <p:sp>
        <p:nvSpPr>
          <p:cNvPr id="15" name="Text 13"/>
          <p:cNvSpPr/>
          <p:nvPr/>
        </p:nvSpPr>
        <p:spPr>
          <a:xfrm>
            <a:off x="850392" y="3410712"/>
            <a:ext cx="3456432" cy="850392"/>
          </a:xfrm>
          <a:prstGeom prst="rect">
            <a:avLst/>
          </a:prstGeom>
          <a:noFill/>
        </p:spPr>
        <p:txBody>
          <a:bodyPr wrap="square" lIns="127" tIns="127" rIns="127" bIns="127" rtlCol="0" anchor="ctr">
            <a:normAutofit/>
          </a:bodyPr>
          <a:lstStyle/>
          <a:p>
            <a:pPr marL="0" indent="0">
              <a:buNone/>
            </a:pPr>
            <a:r>
              <a:rPr lang="en-US" sz="820" dirty="0">
                <a:solidFill>
                  <a:srgbClr val="111827"/>
                </a:solidFill>
              </a:rPr>
              <a:t>Aplicar minería de datos para preparar datos climáticos, evaluar modelos de clasificación, regresión y clustering, y transformar resultados técnicos en insights visuales para la toma de decisiones.</a:t>
            </a:r>
            <a:endParaRPr lang="en-US" sz="820" dirty="0"/>
          </a:p>
        </p:txBody>
      </p:sp>
      <p:sp>
        <p:nvSpPr>
          <p:cNvPr id="16" name="Shape 14"/>
          <p:cNvSpPr/>
          <p:nvPr/>
        </p:nvSpPr>
        <p:spPr>
          <a:xfrm>
            <a:off x="4800600" y="1325880"/>
            <a:ext cx="6675120" cy="3154680"/>
          </a:xfrm>
          <a:prstGeom prst="roundRect">
            <a:avLst>
              <a:gd name="adj" fmla="val 2319"/>
            </a:avLst>
          </a:prstGeom>
          <a:solidFill>
            <a:srgbClr val="FFFFFF"/>
          </a:solidFill>
          <a:ln w="12700">
            <a:solidFill>
              <a:srgbClr val="D5E4F4"/>
            </a:solidFill>
            <a:prstDash val="solid"/>
          </a:ln>
          <a:effectLst>
            <a:outerShdw blurRad="12700" dist="50800" dir="2700000" algn="bl" rotWithShape="0">
              <a:srgbClr val="000000">
                <a:alpha val="10000"/>
              </a:srgbClr>
            </a:outerShdw>
          </a:effectLst>
        </p:spPr>
      </p:sp>
      <p:sp>
        <p:nvSpPr>
          <p:cNvPr id="17" name="Text 15"/>
          <p:cNvSpPr/>
          <p:nvPr/>
        </p:nvSpPr>
        <p:spPr>
          <a:xfrm>
            <a:off x="5074920" y="1572768"/>
            <a:ext cx="2286000" cy="274320"/>
          </a:xfrm>
          <a:prstGeom prst="rect">
            <a:avLst/>
          </a:prstGeom>
          <a:noFill/>
        </p:spPr>
        <p:txBody>
          <a:bodyPr wrap="square" lIns="0" tIns="0" rIns="0" bIns="0" rtlCol="0" anchor="ctr"/>
          <a:lstStyle/>
          <a:p>
            <a:pPr marL="0" indent="0">
              <a:buNone/>
            </a:pPr>
            <a:r>
              <a:rPr lang="en-US" sz="1500" b="1" dirty="0">
                <a:solidFill>
                  <a:srgbClr val="071A3D"/>
                </a:solidFill>
              </a:rPr>
              <a:t>Variables objetivo</a:t>
            </a:r>
            <a:endParaRPr lang="en-US" sz="1500" dirty="0"/>
          </a:p>
        </p:txBody>
      </p:sp>
      <p:sp>
        <p:nvSpPr>
          <p:cNvPr id="18" name="Shape 16"/>
          <p:cNvSpPr/>
          <p:nvPr/>
        </p:nvSpPr>
        <p:spPr>
          <a:xfrm>
            <a:off x="5074920" y="2057400"/>
            <a:ext cx="1234440" cy="292608"/>
          </a:xfrm>
          <a:prstGeom prst="roundRect">
            <a:avLst>
              <a:gd name="adj" fmla="val 21875"/>
            </a:avLst>
          </a:prstGeom>
          <a:solidFill>
            <a:srgbClr val="EAF5FF"/>
          </a:solidFill>
          <a:ln w="12700">
            <a:solidFill>
              <a:srgbClr val="EAF5FF"/>
            </a:solidFill>
            <a:prstDash val="solid"/>
          </a:ln>
        </p:spPr>
      </p:sp>
      <p:sp>
        <p:nvSpPr>
          <p:cNvPr id="19" name="Text 17"/>
          <p:cNvSpPr/>
          <p:nvPr/>
        </p:nvSpPr>
        <p:spPr>
          <a:xfrm>
            <a:off x="5120640" y="2121408"/>
            <a:ext cx="1143000" cy="146304"/>
          </a:xfrm>
          <a:prstGeom prst="rect">
            <a:avLst/>
          </a:prstGeom>
          <a:noFill/>
        </p:spPr>
        <p:txBody>
          <a:bodyPr wrap="square" lIns="0" tIns="0" rIns="0" bIns="0" rtlCol="0" anchor="ctr">
            <a:normAutofit/>
          </a:bodyPr>
          <a:lstStyle/>
          <a:p>
            <a:pPr marL="0" indent="0" algn="ctr">
              <a:buNone/>
            </a:pPr>
            <a:r>
              <a:rPr lang="en-US" sz="750" b="1" dirty="0">
                <a:solidFill>
                  <a:srgbClr val="0B5CAD"/>
                </a:solidFill>
              </a:rPr>
              <a:t>Clasificación</a:t>
            </a:r>
            <a:endParaRPr lang="en-US" sz="750" dirty="0"/>
          </a:p>
        </p:txBody>
      </p:sp>
      <p:sp>
        <p:nvSpPr>
          <p:cNvPr id="20" name="Text 18"/>
          <p:cNvSpPr/>
          <p:nvPr/>
        </p:nvSpPr>
        <p:spPr>
          <a:xfrm>
            <a:off x="6446520" y="2039112"/>
            <a:ext cx="1920240" cy="219456"/>
          </a:xfrm>
          <a:prstGeom prst="rect">
            <a:avLst/>
          </a:prstGeom>
          <a:noFill/>
        </p:spPr>
        <p:txBody>
          <a:bodyPr wrap="square" lIns="0" tIns="0" rIns="0" bIns="0" rtlCol="0" anchor="ctr"/>
          <a:lstStyle/>
          <a:p>
            <a:pPr marL="0" indent="0">
              <a:buNone/>
            </a:pPr>
            <a:r>
              <a:rPr lang="en-US" sz="1400" b="1" dirty="0">
                <a:solidFill>
                  <a:srgbClr val="111827"/>
                </a:solidFill>
              </a:rPr>
              <a:t>RainTomorrow</a:t>
            </a:r>
            <a:endParaRPr lang="en-US" sz="1400" dirty="0"/>
          </a:p>
        </p:txBody>
      </p:sp>
      <p:sp>
        <p:nvSpPr>
          <p:cNvPr id="21" name="Text 19"/>
          <p:cNvSpPr/>
          <p:nvPr/>
        </p:nvSpPr>
        <p:spPr>
          <a:xfrm>
            <a:off x="8549640" y="2048256"/>
            <a:ext cx="2331720" cy="182880"/>
          </a:xfrm>
          <a:prstGeom prst="rect">
            <a:avLst/>
          </a:prstGeom>
          <a:noFill/>
        </p:spPr>
        <p:txBody>
          <a:bodyPr wrap="square" lIns="0" tIns="0" rIns="0" bIns="0" rtlCol="0" anchor="ctr"/>
          <a:lstStyle/>
          <a:p>
            <a:pPr marL="0" indent="0">
              <a:buNone/>
            </a:pPr>
            <a:r>
              <a:rPr lang="en-US" sz="920" dirty="0">
                <a:solidFill>
                  <a:srgbClr val="5D6D7E"/>
                </a:solidFill>
              </a:rPr>
              <a:t>Predice si lloverá al día siguiente.</a:t>
            </a:r>
            <a:endParaRPr lang="en-US" sz="920" dirty="0"/>
          </a:p>
        </p:txBody>
      </p:sp>
      <p:sp>
        <p:nvSpPr>
          <p:cNvPr id="22" name="Shape 20"/>
          <p:cNvSpPr/>
          <p:nvPr/>
        </p:nvSpPr>
        <p:spPr>
          <a:xfrm>
            <a:off x="5074920" y="2761488"/>
            <a:ext cx="1234440" cy="292608"/>
          </a:xfrm>
          <a:prstGeom prst="roundRect">
            <a:avLst>
              <a:gd name="adj" fmla="val 21875"/>
            </a:avLst>
          </a:prstGeom>
          <a:solidFill>
            <a:srgbClr val="E9F7EF"/>
          </a:solidFill>
          <a:ln w="12700">
            <a:solidFill>
              <a:srgbClr val="E9F7EF"/>
            </a:solidFill>
            <a:prstDash val="solid"/>
          </a:ln>
        </p:spPr>
      </p:sp>
      <p:sp>
        <p:nvSpPr>
          <p:cNvPr id="23" name="Text 21"/>
          <p:cNvSpPr/>
          <p:nvPr/>
        </p:nvSpPr>
        <p:spPr>
          <a:xfrm>
            <a:off x="5120640" y="2825496"/>
            <a:ext cx="1143000" cy="146304"/>
          </a:xfrm>
          <a:prstGeom prst="rect">
            <a:avLst/>
          </a:prstGeom>
          <a:noFill/>
        </p:spPr>
        <p:txBody>
          <a:bodyPr wrap="square" lIns="0" tIns="0" rIns="0" bIns="0" rtlCol="0" anchor="ctr">
            <a:normAutofit/>
          </a:bodyPr>
          <a:lstStyle/>
          <a:p>
            <a:pPr marL="0" indent="0" algn="ctr">
              <a:buNone/>
            </a:pPr>
            <a:r>
              <a:rPr lang="en-US" sz="750" b="1" dirty="0">
                <a:solidFill>
                  <a:srgbClr val="2A9D8F"/>
                </a:solidFill>
              </a:rPr>
              <a:t>Regresión</a:t>
            </a:r>
            <a:endParaRPr lang="en-US" sz="750" dirty="0"/>
          </a:p>
        </p:txBody>
      </p:sp>
      <p:sp>
        <p:nvSpPr>
          <p:cNvPr id="24" name="Text 22"/>
          <p:cNvSpPr/>
          <p:nvPr/>
        </p:nvSpPr>
        <p:spPr>
          <a:xfrm>
            <a:off x="6446520" y="2743200"/>
            <a:ext cx="1920240" cy="219456"/>
          </a:xfrm>
          <a:prstGeom prst="rect">
            <a:avLst/>
          </a:prstGeom>
          <a:noFill/>
        </p:spPr>
        <p:txBody>
          <a:bodyPr wrap="square" lIns="0" tIns="0" rIns="0" bIns="0" rtlCol="0" anchor="ctr"/>
          <a:lstStyle/>
          <a:p>
            <a:pPr marL="0" indent="0">
              <a:buNone/>
            </a:pPr>
            <a:r>
              <a:rPr lang="en-US" sz="1400" b="1" dirty="0">
                <a:solidFill>
                  <a:srgbClr val="111827"/>
                </a:solidFill>
              </a:rPr>
              <a:t>RISK_MM</a:t>
            </a:r>
            <a:endParaRPr lang="en-US" sz="1400" dirty="0"/>
          </a:p>
        </p:txBody>
      </p:sp>
      <p:sp>
        <p:nvSpPr>
          <p:cNvPr id="25" name="Text 23"/>
          <p:cNvSpPr/>
          <p:nvPr/>
        </p:nvSpPr>
        <p:spPr>
          <a:xfrm>
            <a:off x="8549640" y="2752344"/>
            <a:ext cx="2331720" cy="182880"/>
          </a:xfrm>
          <a:prstGeom prst="rect">
            <a:avLst/>
          </a:prstGeom>
          <a:noFill/>
        </p:spPr>
        <p:txBody>
          <a:bodyPr wrap="square" lIns="0" tIns="0" rIns="0" bIns="0" rtlCol="0" anchor="ctr"/>
          <a:lstStyle/>
          <a:p>
            <a:pPr marL="0" indent="0">
              <a:buNone/>
            </a:pPr>
            <a:r>
              <a:rPr lang="en-US" sz="920" dirty="0">
                <a:solidFill>
                  <a:srgbClr val="5D6D7E"/>
                </a:solidFill>
              </a:rPr>
              <a:t>Estima milímetros de lluvia registrados.</a:t>
            </a:r>
            <a:endParaRPr lang="en-US" sz="920" dirty="0"/>
          </a:p>
        </p:txBody>
      </p:sp>
      <p:sp>
        <p:nvSpPr>
          <p:cNvPr id="26" name="Shape 24"/>
          <p:cNvSpPr/>
          <p:nvPr/>
        </p:nvSpPr>
        <p:spPr>
          <a:xfrm>
            <a:off x="5074920" y="3474720"/>
            <a:ext cx="1234440" cy="292608"/>
          </a:xfrm>
          <a:prstGeom prst="roundRect">
            <a:avLst>
              <a:gd name="adj" fmla="val 21875"/>
            </a:avLst>
          </a:prstGeom>
          <a:solidFill>
            <a:srgbClr val="FFF3E7"/>
          </a:solidFill>
          <a:ln w="12700">
            <a:solidFill>
              <a:srgbClr val="FFF3E7"/>
            </a:solidFill>
            <a:prstDash val="solid"/>
          </a:ln>
        </p:spPr>
      </p:sp>
      <p:sp>
        <p:nvSpPr>
          <p:cNvPr id="27" name="Text 25"/>
          <p:cNvSpPr/>
          <p:nvPr/>
        </p:nvSpPr>
        <p:spPr>
          <a:xfrm>
            <a:off x="5120640" y="3538728"/>
            <a:ext cx="1143000" cy="146304"/>
          </a:xfrm>
          <a:prstGeom prst="rect">
            <a:avLst/>
          </a:prstGeom>
          <a:noFill/>
        </p:spPr>
        <p:txBody>
          <a:bodyPr wrap="square" lIns="0" tIns="0" rIns="0" bIns="0" rtlCol="0" anchor="ctr">
            <a:normAutofit/>
          </a:bodyPr>
          <a:lstStyle/>
          <a:p>
            <a:pPr marL="0" indent="0" algn="ctr">
              <a:buNone/>
            </a:pPr>
            <a:r>
              <a:rPr lang="en-US" sz="750" b="1" dirty="0">
                <a:solidFill>
                  <a:srgbClr val="C76C16"/>
                </a:solidFill>
              </a:rPr>
              <a:t>Segmentación</a:t>
            </a:r>
            <a:endParaRPr lang="en-US" sz="750" dirty="0"/>
          </a:p>
        </p:txBody>
      </p:sp>
      <p:sp>
        <p:nvSpPr>
          <p:cNvPr id="28" name="Text 26"/>
          <p:cNvSpPr/>
          <p:nvPr/>
        </p:nvSpPr>
        <p:spPr>
          <a:xfrm>
            <a:off x="6446520" y="3456432"/>
            <a:ext cx="1920240" cy="219456"/>
          </a:xfrm>
          <a:prstGeom prst="rect">
            <a:avLst/>
          </a:prstGeom>
          <a:noFill/>
        </p:spPr>
        <p:txBody>
          <a:bodyPr wrap="square" lIns="0" tIns="0" rIns="0" bIns="0" rtlCol="0" anchor="ctr"/>
          <a:lstStyle/>
          <a:p>
            <a:pPr marL="0" indent="0">
              <a:buNone/>
            </a:pPr>
            <a:r>
              <a:rPr lang="en-US" sz="1400" b="1" dirty="0">
                <a:solidFill>
                  <a:srgbClr val="111827"/>
                </a:solidFill>
              </a:rPr>
              <a:t>K-Means</a:t>
            </a:r>
            <a:endParaRPr lang="en-US" sz="1400" dirty="0"/>
          </a:p>
        </p:txBody>
      </p:sp>
      <p:sp>
        <p:nvSpPr>
          <p:cNvPr id="29" name="Text 27"/>
          <p:cNvSpPr/>
          <p:nvPr/>
        </p:nvSpPr>
        <p:spPr>
          <a:xfrm>
            <a:off x="8549640" y="3465576"/>
            <a:ext cx="2606040" cy="182880"/>
          </a:xfrm>
          <a:prstGeom prst="rect">
            <a:avLst/>
          </a:prstGeom>
          <a:noFill/>
        </p:spPr>
        <p:txBody>
          <a:bodyPr wrap="square" lIns="0" tIns="0" rIns="0" bIns="0" rtlCol="0" anchor="ctr"/>
          <a:lstStyle/>
          <a:p>
            <a:pPr marL="0" indent="0">
              <a:buNone/>
            </a:pPr>
            <a:r>
              <a:rPr lang="en-US" sz="920" dirty="0">
                <a:solidFill>
                  <a:srgbClr val="5D6D7E"/>
                </a:solidFill>
              </a:rPr>
              <a:t>Agrupa perfiles climáticos sin etiqueta objetivo.</a:t>
            </a:r>
            <a:endParaRPr lang="en-US" sz="920" dirty="0"/>
          </a:p>
        </p:txBody>
      </p:sp>
      <p:sp>
        <p:nvSpPr>
          <p:cNvPr id="30" name="Shape 28"/>
          <p:cNvSpPr/>
          <p:nvPr/>
        </p:nvSpPr>
        <p:spPr>
          <a:xfrm>
            <a:off x="5029200" y="4892040"/>
            <a:ext cx="146304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31" name="Text 29"/>
          <p:cNvSpPr/>
          <p:nvPr/>
        </p:nvSpPr>
        <p:spPr>
          <a:xfrm>
            <a:off x="5120640" y="5001768"/>
            <a:ext cx="1280160" cy="228600"/>
          </a:xfrm>
          <a:prstGeom prst="rect">
            <a:avLst/>
          </a:prstGeom>
          <a:noFill/>
        </p:spPr>
        <p:txBody>
          <a:bodyPr wrap="square" lIns="0" tIns="0" rIns="0" bIns="0" rtlCol="0" anchor="ctr"/>
          <a:lstStyle/>
          <a:p>
            <a:pPr marL="0" indent="0" algn="ctr">
              <a:buNone/>
            </a:pPr>
            <a:r>
              <a:rPr lang="en-US" sz="1700" b="1" dirty="0">
                <a:solidFill>
                  <a:srgbClr val="0B5CAD"/>
                </a:solidFill>
              </a:rPr>
              <a:t>142.193</a:t>
            </a:r>
            <a:endParaRPr lang="en-US" sz="1700" dirty="0"/>
          </a:p>
        </p:txBody>
      </p:sp>
      <p:sp>
        <p:nvSpPr>
          <p:cNvPr id="32" name="Text 30"/>
          <p:cNvSpPr/>
          <p:nvPr/>
        </p:nvSpPr>
        <p:spPr>
          <a:xfrm>
            <a:off x="5102352" y="5312664"/>
            <a:ext cx="131673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registros</a:t>
            </a:r>
            <a:endParaRPr lang="en-US" sz="740" dirty="0"/>
          </a:p>
        </p:txBody>
      </p:sp>
      <p:sp>
        <p:nvSpPr>
          <p:cNvPr id="33" name="Shape 31"/>
          <p:cNvSpPr/>
          <p:nvPr/>
        </p:nvSpPr>
        <p:spPr>
          <a:xfrm>
            <a:off x="6629400" y="4892040"/>
            <a:ext cx="146304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34" name="Text 32"/>
          <p:cNvSpPr/>
          <p:nvPr/>
        </p:nvSpPr>
        <p:spPr>
          <a:xfrm>
            <a:off x="6720840" y="5001768"/>
            <a:ext cx="1280160" cy="228600"/>
          </a:xfrm>
          <a:prstGeom prst="rect">
            <a:avLst/>
          </a:prstGeom>
          <a:noFill/>
        </p:spPr>
        <p:txBody>
          <a:bodyPr wrap="square" lIns="0" tIns="0" rIns="0" bIns="0" rtlCol="0" anchor="ctr"/>
          <a:lstStyle/>
          <a:p>
            <a:pPr marL="0" indent="0" algn="ctr">
              <a:buNone/>
            </a:pPr>
            <a:r>
              <a:rPr lang="en-US" sz="1700" b="1" dirty="0">
                <a:solidFill>
                  <a:srgbClr val="0B5CAD"/>
                </a:solidFill>
              </a:rPr>
              <a:t>24</a:t>
            </a:r>
            <a:endParaRPr lang="en-US" sz="1700" dirty="0"/>
          </a:p>
        </p:txBody>
      </p:sp>
      <p:sp>
        <p:nvSpPr>
          <p:cNvPr id="35" name="Text 33"/>
          <p:cNvSpPr/>
          <p:nvPr/>
        </p:nvSpPr>
        <p:spPr>
          <a:xfrm>
            <a:off x="6702552" y="5312664"/>
            <a:ext cx="131673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variables originales</a:t>
            </a:r>
            <a:endParaRPr lang="en-US" sz="740" dirty="0"/>
          </a:p>
        </p:txBody>
      </p:sp>
      <p:sp>
        <p:nvSpPr>
          <p:cNvPr id="36" name="Shape 34"/>
          <p:cNvSpPr/>
          <p:nvPr/>
        </p:nvSpPr>
        <p:spPr>
          <a:xfrm>
            <a:off x="8229600" y="4892040"/>
            <a:ext cx="146304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37" name="Text 35"/>
          <p:cNvSpPr/>
          <p:nvPr/>
        </p:nvSpPr>
        <p:spPr>
          <a:xfrm>
            <a:off x="8321040" y="5001768"/>
            <a:ext cx="1280160" cy="228600"/>
          </a:xfrm>
          <a:prstGeom prst="rect">
            <a:avLst/>
          </a:prstGeom>
          <a:noFill/>
        </p:spPr>
        <p:txBody>
          <a:bodyPr wrap="square" lIns="0" tIns="0" rIns="0" bIns="0" rtlCol="0" anchor="ctr"/>
          <a:lstStyle/>
          <a:p>
            <a:pPr marL="0" indent="0" algn="ctr">
              <a:buNone/>
            </a:pPr>
            <a:r>
              <a:rPr lang="en-US" sz="1700" b="1" dirty="0">
                <a:solidFill>
                  <a:srgbClr val="2A9D8F"/>
                </a:solidFill>
              </a:rPr>
              <a:t>0</a:t>
            </a:r>
            <a:endParaRPr lang="en-US" sz="1700" dirty="0"/>
          </a:p>
        </p:txBody>
      </p:sp>
      <p:sp>
        <p:nvSpPr>
          <p:cNvPr id="38" name="Text 36"/>
          <p:cNvSpPr/>
          <p:nvPr/>
        </p:nvSpPr>
        <p:spPr>
          <a:xfrm>
            <a:off x="8302752" y="5312664"/>
            <a:ext cx="131673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sin duplicados</a:t>
            </a:r>
            <a:endParaRPr lang="en-US" sz="740" dirty="0"/>
          </a:p>
        </p:txBody>
      </p:sp>
      <p:sp>
        <p:nvSpPr>
          <p:cNvPr id="39" name="Shape 37"/>
          <p:cNvSpPr/>
          <p:nvPr/>
        </p:nvSpPr>
        <p:spPr>
          <a:xfrm>
            <a:off x="9829800" y="4892040"/>
            <a:ext cx="146304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40" name="Text 38"/>
          <p:cNvSpPr/>
          <p:nvPr/>
        </p:nvSpPr>
        <p:spPr>
          <a:xfrm>
            <a:off x="9921240" y="5001768"/>
            <a:ext cx="1280160" cy="228600"/>
          </a:xfrm>
          <a:prstGeom prst="rect">
            <a:avLst/>
          </a:prstGeom>
          <a:noFill/>
        </p:spPr>
        <p:txBody>
          <a:bodyPr wrap="square" lIns="0" tIns="0" rIns="0" bIns="0" rtlCol="0" anchor="ctr"/>
          <a:lstStyle/>
          <a:p>
            <a:pPr marL="0" indent="0" algn="ctr">
              <a:buNone/>
            </a:pPr>
            <a:r>
              <a:rPr lang="en-US" sz="1700" b="1" dirty="0">
                <a:solidFill>
                  <a:srgbClr val="2A9D8F"/>
                </a:solidFill>
              </a:rPr>
              <a:t>106</a:t>
            </a:r>
            <a:endParaRPr lang="en-US" sz="1700" dirty="0"/>
          </a:p>
        </p:txBody>
      </p:sp>
      <p:sp>
        <p:nvSpPr>
          <p:cNvPr id="41" name="Text 39"/>
          <p:cNvSpPr/>
          <p:nvPr/>
        </p:nvSpPr>
        <p:spPr>
          <a:xfrm>
            <a:off x="9902952" y="5312664"/>
            <a:ext cx="131673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variables finales</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F8FBFF">
                <a:alpha val="0"/>
              </a:srgbClr>
            </a:solidFill>
            <a:prstDash val="solid"/>
          </a:ln>
        </p:spPr>
      </p:sp>
      <p:sp>
        <p:nvSpPr>
          <p:cNvPr id="3" name="Text 1"/>
          <p:cNvSpPr/>
          <p:nvPr/>
        </p:nvSpPr>
        <p:spPr>
          <a:xfrm>
            <a:off x="594360" y="256032"/>
            <a:ext cx="9601200" cy="347472"/>
          </a:xfrm>
          <a:prstGeom prst="rect">
            <a:avLst/>
          </a:prstGeom>
          <a:noFill/>
        </p:spPr>
        <p:txBody>
          <a:bodyPr wrap="square" lIns="0" tIns="0" rIns="0" bIns="0" rtlCol="0" anchor="ctr"/>
          <a:lstStyle/>
          <a:p>
            <a:pPr marL="0" indent="0">
              <a:buNone/>
            </a:pPr>
            <a:r>
              <a:rPr lang="en-US" sz="2500" b="1" dirty="0">
                <a:solidFill>
                  <a:srgbClr val="071A3D"/>
                </a:solidFill>
                <a:latin typeface="Arial" panose="020B0604020202020204" pitchFamily="34" charset="0"/>
                <a:ea typeface="Arial" panose="020B0604020202020204" pitchFamily="34" charset="-122"/>
                <a:cs typeface="Arial" panose="020B0604020202020204" pitchFamily="34" charset="-120"/>
              </a:rPr>
              <a:t>Metodología CRISP-DM aplicada</a:t>
            </a:r>
            <a:endParaRPr lang="en-US" sz="2500" dirty="0"/>
          </a:p>
        </p:txBody>
      </p:sp>
      <p:sp>
        <p:nvSpPr>
          <p:cNvPr id="4" name="Text 2"/>
          <p:cNvSpPr/>
          <p:nvPr/>
        </p:nvSpPr>
        <p:spPr>
          <a:xfrm>
            <a:off x="603504" y="713232"/>
            <a:ext cx="8961120" cy="237744"/>
          </a:xfrm>
          <a:prstGeom prst="rect">
            <a:avLst/>
          </a:prstGeom>
          <a:noFill/>
        </p:spPr>
        <p:txBody>
          <a:bodyPr wrap="square" lIns="0" tIns="0" rIns="0" bIns="0" rtlCol="0" anchor="ctr"/>
          <a:lstStyle/>
          <a:p>
            <a:pPr marL="0" indent="0">
              <a:buNone/>
            </a:pPr>
            <a:r>
              <a:rPr lang="en-US" sz="1050" dirty="0">
                <a:solidFill>
                  <a:srgbClr val="5D6D7E"/>
                </a:solidFill>
                <a:latin typeface="Arial" panose="020B0604020202020204" pitchFamily="34" charset="0"/>
                <a:ea typeface="Arial" panose="020B0604020202020204" pitchFamily="34" charset="-122"/>
                <a:cs typeface="Arial" panose="020B0604020202020204" pitchFamily="34" charset="-120"/>
              </a:rPr>
              <a:t>Del dato climático original a la visualización para la toma de decisiones</a:t>
            </a:r>
            <a:endParaRPr lang="en-US" sz="1050" dirty="0"/>
          </a:p>
        </p:txBody>
      </p:sp>
      <p:sp>
        <p:nvSpPr>
          <p:cNvPr id="5" name="Shape 3"/>
          <p:cNvSpPr/>
          <p:nvPr/>
        </p:nvSpPr>
        <p:spPr>
          <a:xfrm>
            <a:off x="594360" y="1024128"/>
            <a:ext cx="10972800" cy="0"/>
          </a:xfrm>
          <a:prstGeom prst="line">
            <a:avLst/>
          </a:prstGeom>
          <a:noFill/>
          <a:ln w="12700">
            <a:solidFill>
              <a:srgbClr val="C9D8EA"/>
            </a:solidFill>
            <a:prstDash val="solid"/>
          </a:ln>
        </p:spPr>
      </p:sp>
      <p:sp>
        <p:nvSpPr>
          <p:cNvPr id="6" name="Text 4"/>
          <p:cNvSpPr/>
          <p:nvPr/>
        </p:nvSpPr>
        <p:spPr>
          <a:xfrm>
            <a:off x="594360" y="6473952"/>
            <a:ext cx="5120640" cy="182880"/>
          </a:xfrm>
          <a:prstGeom prst="rect">
            <a:avLst/>
          </a:prstGeom>
          <a:noFill/>
        </p:spPr>
        <p:txBody>
          <a:bodyPr wrap="square" lIns="0" tIns="0" rIns="0" bIns="0" rtlCol="0" anchor="ctr"/>
          <a:lstStyle/>
          <a:p>
            <a:pPr marL="0" indent="0">
              <a:buNone/>
            </a:pPr>
            <a:r>
              <a:rPr lang="en-US" sz="750" dirty="0">
                <a:solidFill>
                  <a:srgbClr val="708090"/>
                </a:solidFill>
              </a:rPr>
              <a:t>BIY7121 Minería de Datos | Power BI + CRISP-DM</a:t>
            </a:r>
            <a:endParaRPr lang="en-US" sz="750" dirty="0"/>
          </a:p>
        </p:txBody>
      </p:sp>
      <p:sp>
        <p:nvSpPr>
          <p:cNvPr id="7" name="Text 5"/>
          <p:cNvSpPr/>
          <p:nvPr/>
        </p:nvSpPr>
        <p:spPr>
          <a:xfrm>
            <a:off x="11064240" y="6446520"/>
            <a:ext cx="502920" cy="228600"/>
          </a:xfrm>
          <a:prstGeom prst="rect">
            <a:avLst/>
          </a:prstGeom>
          <a:noFill/>
        </p:spPr>
        <p:txBody>
          <a:bodyPr wrap="square" lIns="0" tIns="0" rIns="0" bIns="0" rtlCol="0" anchor="ctr"/>
          <a:lstStyle/>
          <a:p>
            <a:pPr marL="0" indent="0" algn="r">
              <a:buNone/>
            </a:pPr>
            <a:r>
              <a:rPr lang="en-US" sz="850" dirty="0">
                <a:solidFill>
                  <a:srgbClr val="708090"/>
                </a:solidFill>
              </a:rPr>
              <a:t>03</a:t>
            </a:r>
            <a:endParaRPr lang="en-US" sz="850" dirty="0"/>
          </a:p>
        </p:txBody>
      </p:sp>
      <p:sp>
        <p:nvSpPr>
          <p:cNvPr id="8" name="Shape 6"/>
          <p:cNvSpPr/>
          <p:nvPr/>
        </p:nvSpPr>
        <p:spPr>
          <a:xfrm>
            <a:off x="2148840" y="3209544"/>
            <a:ext cx="457200" cy="0"/>
          </a:xfrm>
          <a:prstGeom prst="line">
            <a:avLst/>
          </a:prstGeom>
          <a:noFill/>
          <a:ln w="25400">
            <a:solidFill>
              <a:srgbClr val="98B8D6"/>
            </a:solidFill>
            <a:prstDash val="solid"/>
            <a:headEnd type="none"/>
            <a:tailEnd type="triangle"/>
          </a:ln>
        </p:spPr>
      </p:sp>
      <p:sp>
        <p:nvSpPr>
          <p:cNvPr id="9" name="Shape 7"/>
          <p:cNvSpPr/>
          <p:nvPr/>
        </p:nvSpPr>
        <p:spPr>
          <a:xfrm>
            <a:off x="3931920" y="3209544"/>
            <a:ext cx="457200" cy="0"/>
          </a:xfrm>
          <a:prstGeom prst="line">
            <a:avLst/>
          </a:prstGeom>
          <a:noFill/>
          <a:ln w="25400">
            <a:solidFill>
              <a:srgbClr val="98B8D6"/>
            </a:solidFill>
            <a:prstDash val="solid"/>
            <a:headEnd type="none"/>
            <a:tailEnd type="triangle"/>
          </a:ln>
        </p:spPr>
      </p:sp>
      <p:sp>
        <p:nvSpPr>
          <p:cNvPr id="10" name="Shape 8"/>
          <p:cNvSpPr/>
          <p:nvPr/>
        </p:nvSpPr>
        <p:spPr>
          <a:xfrm>
            <a:off x="5715000" y="3209544"/>
            <a:ext cx="457200" cy="0"/>
          </a:xfrm>
          <a:prstGeom prst="line">
            <a:avLst/>
          </a:prstGeom>
          <a:noFill/>
          <a:ln w="25400">
            <a:solidFill>
              <a:srgbClr val="98B8D6"/>
            </a:solidFill>
            <a:prstDash val="solid"/>
            <a:headEnd type="none"/>
            <a:tailEnd type="triangle"/>
          </a:ln>
        </p:spPr>
      </p:sp>
      <p:sp>
        <p:nvSpPr>
          <p:cNvPr id="11" name="Shape 9"/>
          <p:cNvSpPr/>
          <p:nvPr/>
        </p:nvSpPr>
        <p:spPr>
          <a:xfrm>
            <a:off x="7498080" y="3209544"/>
            <a:ext cx="457200" cy="0"/>
          </a:xfrm>
          <a:prstGeom prst="line">
            <a:avLst/>
          </a:prstGeom>
          <a:noFill/>
          <a:ln w="25400">
            <a:solidFill>
              <a:srgbClr val="98B8D6"/>
            </a:solidFill>
            <a:prstDash val="solid"/>
            <a:headEnd type="none"/>
            <a:tailEnd type="triangle"/>
          </a:ln>
        </p:spPr>
      </p:sp>
      <p:sp>
        <p:nvSpPr>
          <p:cNvPr id="12" name="Shape 10"/>
          <p:cNvSpPr/>
          <p:nvPr/>
        </p:nvSpPr>
        <p:spPr>
          <a:xfrm>
            <a:off x="9281160" y="3209544"/>
            <a:ext cx="457200" cy="0"/>
          </a:xfrm>
          <a:prstGeom prst="line">
            <a:avLst/>
          </a:prstGeom>
          <a:noFill/>
          <a:ln w="25400">
            <a:solidFill>
              <a:srgbClr val="98B8D6"/>
            </a:solidFill>
            <a:prstDash val="solid"/>
            <a:headEnd type="none"/>
            <a:tailEnd type="triangle"/>
          </a:ln>
        </p:spPr>
      </p:sp>
      <p:sp>
        <p:nvSpPr>
          <p:cNvPr id="13" name="Shape 11"/>
          <p:cNvSpPr/>
          <p:nvPr/>
        </p:nvSpPr>
        <p:spPr>
          <a:xfrm>
            <a:off x="731520" y="2880360"/>
            <a:ext cx="1417320" cy="713232"/>
          </a:xfrm>
          <a:prstGeom prst="roundRect">
            <a:avLst>
              <a:gd name="adj" fmla="val 10256"/>
            </a:avLst>
          </a:prstGeom>
          <a:solidFill>
            <a:srgbClr val="FFFFFF"/>
          </a:solidFill>
          <a:ln w="12700">
            <a:solidFill>
              <a:srgbClr val="C9D8EA"/>
            </a:solidFill>
            <a:prstDash val="solid"/>
          </a:ln>
          <a:effectLst>
            <a:outerShdw blurRad="12700" dist="50800" dir="2700000" algn="bl" rotWithShape="0">
              <a:srgbClr val="000000">
                <a:alpha val="8000"/>
              </a:srgbClr>
            </a:outerShdw>
          </a:effectLst>
        </p:spPr>
      </p:sp>
      <p:sp>
        <p:nvSpPr>
          <p:cNvPr id="14" name="Text 12"/>
          <p:cNvSpPr/>
          <p:nvPr/>
        </p:nvSpPr>
        <p:spPr>
          <a:xfrm>
            <a:off x="804672" y="2990088"/>
            <a:ext cx="320040" cy="182880"/>
          </a:xfrm>
          <a:prstGeom prst="rect">
            <a:avLst/>
          </a:prstGeom>
          <a:noFill/>
        </p:spPr>
        <p:txBody>
          <a:bodyPr wrap="square" lIns="0" tIns="0" rIns="0" bIns="0" rtlCol="0" anchor="ctr"/>
          <a:lstStyle/>
          <a:p>
            <a:pPr marL="0" indent="0">
              <a:buNone/>
            </a:pPr>
            <a:r>
              <a:rPr lang="en-US" sz="900" b="1" dirty="0">
                <a:solidFill>
                  <a:srgbClr val="0B5CAD"/>
                </a:solidFill>
              </a:rPr>
              <a:t>01</a:t>
            </a:r>
            <a:endParaRPr lang="en-US" sz="900" dirty="0"/>
          </a:p>
        </p:txBody>
      </p:sp>
      <p:sp>
        <p:nvSpPr>
          <p:cNvPr id="15" name="Text 13"/>
          <p:cNvSpPr/>
          <p:nvPr/>
        </p:nvSpPr>
        <p:spPr>
          <a:xfrm>
            <a:off x="1143000" y="2980944"/>
            <a:ext cx="868680" cy="219456"/>
          </a:xfrm>
          <a:prstGeom prst="rect">
            <a:avLst/>
          </a:prstGeom>
          <a:noFill/>
        </p:spPr>
        <p:txBody>
          <a:bodyPr wrap="square" lIns="0" tIns="0" rIns="0" bIns="0" rtlCol="0" anchor="ctr">
            <a:normAutofit/>
          </a:bodyPr>
          <a:lstStyle/>
          <a:p>
            <a:pPr marL="0" indent="0">
              <a:buNone/>
            </a:pPr>
            <a:r>
              <a:rPr lang="en-US" sz="1020" b="1" dirty="0">
                <a:solidFill>
                  <a:srgbClr val="071A3D"/>
                </a:solidFill>
              </a:rPr>
              <a:t>Negocio</a:t>
            </a:r>
            <a:endParaRPr lang="en-US" sz="1020" dirty="0"/>
          </a:p>
        </p:txBody>
      </p:sp>
      <p:sp>
        <p:nvSpPr>
          <p:cNvPr id="16" name="Text 14"/>
          <p:cNvSpPr/>
          <p:nvPr/>
        </p:nvSpPr>
        <p:spPr>
          <a:xfrm>
            <a:off x="841248" y="3291840"/>
            <a:ext cx="1197864" cy="182880"/>
          </a:xfrm>
          <a:prstGeom prst="rect">
            <a:avLst/>
          </a:prstGeom>
          <a:noFill/>
        </p:spPr>
        <p:txBody>
          <a:bodyPr wrap="square" lIns="0" tIns="0" rIns="0" bIns="0" rtlCol="0" anchor="ctr">
            <a:normAutofit/>
          </a:bodyPr>
          <a:lstStyle/>
          <a:p>
            <a:pPr marL="0" indent="0" algn="ctr">
              <a:buNone/>
            </a:pPr>
            <a:r>
              <a:rPr lang="en-US" sz="650" dirty="0">
                <a:solidFill>
                  <a:srgbClr val="5D6D7E"/>
                </a:solidFill>
              </a:rPr>
              <a:t>Definición del problema</a:t>
            </a:r>
            <a:endParaRPr lang="en-US" sz="650" dirty="0"/>
          </a:p>
        </p:txBody>
      </p:sp>
      <p:sp>
        <p:nvSpPr>
          <p:cNvPr id="17" name="Shape 15"/>
          <p:cNvSpPr/>
          <p:nvPr/>
        </p:nvSpPr>
        <p:spPr>
          <a:xfrm>
            <a:off x="2514600" y="2880360"/>
            <a:ext cx="1417320" cy="713232"/>
          </a:xfrm>
          <a:prstGeom prst="roundRect">
            <a:avLst>
              <a:gd name="adj" fmla="val 10256"/>
            </a:avLst>
          </a:prstGeom>
          <a:solidFill>
            <a:srgbClr val="FFFFFF"/>
          </a:solidFill>
          <a:ln w="12700">
            <a:solidFill>
              <a:srgbClr val="C9D8EA"/>
            </a:solidFill>
            <a:prstDash val="solid"/>
          </a:ln>
          <a:effectLst>
            <a:outerShdw blurRad="12700" dist="50800" dir="2700000" algn="bl" rotWithShape="0">
              <a:srgbClr val="000000">
                <a:alpha val="8000"/>
              </a:srgbClr>
            </a:outerShdw>
          </a:effectLst>
        </p:spPr>
      </p:sp>
      <p:sp>
        <p:nvSpPr>
          <p:cNvPr id="18" name="Text 16"/>
          <p:cNvSpPr/>
          <p:nvPr/>
        </p:nvSpPr>
        <p:spPr>
          <a:xfrm>
            <a:off x="2587752" y="2990088"/>
            <a:ext cx="320040" cy="182880"/>
          </a:xfrm>
          <a:prstGeom prst="rect">
            <a:avLst/>
          </a:prstGeom>
          <a:noFill/>
        </p:spPr>
        <p:txBody>
          <a:bodyPr wrap="square" lIns="0" tIns="0" rIns="0" bIns="0" rtlCol="0" anchor="ctr"/>
          <a:lstStyle/>
          <a:p>
            <a:pPr marL="0" indent="0">
              <a:buNone/>
            </a:pPr>
            <a:r>
              <a:rPr lang="en-US" sz="900" b="1" dirty="0">
                <a:solidFill>
                  <a:srgbClr val="0B5CAD"/>
                </a:solidFill>
              </a:rPr>
              <a:t>02</a:t>
            </a:r>
            <a:endParaRPr lang="en-US" sz="900" dirty="0"/>
          </a:p>
        </p:txBody>
      </p:sp>
      <p:sp>
        <p:nvSpPr>
          <p:cNvPr id="19" name="Text 17"/>
          <p:cNvSpPr/>
          <p:nvPr/>
        </p:nvSpPr>
        <p:spPr>
          <a:xfrm>
            <a:off x="2926080" y="2980944"/>
            <a:ext cx="868680" cy="219456"/>
          </a:xfrm>
          <a:prstGeom prst="rect">
            <a:avLst/>
          </a:prstGeom>
          <a:noFill/>
        </p:spPr>
        <p:txBody>
          <a:bodyPr wrap="square" lIns="0" tIns="0" rIns="0" bIns="0" rtlCol="0" anchor="ctr">
            <a:normAutofit/>
          </a:bodyPr>
          <a:lstStyle/>
          <a:p>
            <a:pPr marL="0" indent="0">
              <a:buNone/>
            </a:pPr>
            <a:r>
              <a:rPr lang="en-US" sz="1020" b="1" dirty="0">
                <a:solidFill>
                  <a:srgbClr val="071A3D"/>
                </a:solidFill>
              </a:rPr>
              <a:t>Datos</a:t>
            </a:r>
            <a:endParaRPr lang="en-US" sz="1020" dirty="0"/>
          </a:p>
        </p:txBody>
      </p:sp>
      <p:sp>
        <p:nvSpPr>
          <p:cNvPr id="20" name="Text 18"/>
          <p:cNvSpPr/>
          <p:nvPr/>
        </p:nvSpPr>
        <p:spPr>
          <a:xfrm>
            <a:off x="2624328" y="3291840"/>
            <a:ext cx="1197864" cy="182880"/>
          </a:xfrm>
          <a:prstGeom prst="rect">
            <a:avLst/>
          </a:prstGeom>
          <a:noFill/>
        </p:spPr>
        <p:txBody>
          <a:bodyPr wrap="square" lIns="0" tIns="0" rIns="0" bIns="0" rtlCol="0" anchor="ctr">
            <a:normAutofit/>
          </a:bodyPr>
          <a:lstStyle/>
          <a:p>
            <a:pPr marL="0" indent="0" algn="ctr">
              <a:buNone/>
            </a:pPr>
            <a:r>
              <a:rPr lang="en-US" sz="650" dirty="0">
                <a:solidFill>
                  <a:srgbClr val="5D6D7E"/>
                </a:solidFill>
              </a:rPr>
              <a:t>Estructura, nulos y patrones</a:t>
            </a:r>
            <a:endParaRPr lang="en-US" sz="650" dirty="0"/>
          </a:p>
        </p:txBody>
      </p:sp>
      <p:sp>
        <p:nvSpPr>
          <p:cNvPr id="21" name="Shape 19"/>
          <p:cNvSpPr/>
          <p:nvPr/>
        </p:nvSpPr>
        <p:spPr>
          <a:xfrm>
            <a:off x="4297680" y="2880360"/>
            <a:ext cx="1417320" cy="713232"/>
          </a:xfrm>
          <a:prstGeom prst="roundRect">
            <a:avLst>
              <a:gd name="adj" fmla="val 10256"/>
            </a:avLst>
          </a:prstGeom>
          <a:solidFill>
            <a:srgbClr val="FFFFFF"/>
          </a:solidFill>
          <a:ln w="12700">
            <a:solidFill>
              <a:srgbClr val="C9D8EA"/>
            </a:solidFill>
            <a:prstDash val="solid"/>
          </a:ln>
          <a:effectLst>
            <a:outerShdw blurRad="12700" dist="50800" dir="2700000" algn="bl" rotWithShape="0">
              <a:srgbClr val="000000">
                <a:alpha val="8000"/>
              </a:srgbClr>
            </a:outerShdw>
          </a:effectLst>
        </p:spPr>
      </p:sp>
      <p:sp>
        <p:nvSpPr>
          <p:cNvPr id="22" name="Text 20"/>
          <p:cNvSpPr/>
          <p:nvPr/>
        </p:nvSpPr>
        <p:spPr>
          <a:xfrm>
            <a:off x="4370832" y="2990088"/>
            <a:ext cx="320040" cy="182880"/>
          </a:xfrm>
          <a:prstGeom prst="rect">
            <a:avLst/>
          </a:prstGeom>
          <a:noFill/>
        </p:spPr>
        <p:txBody>
          <a:bodyPr wrap="square" lIns="0" tIns="0" rIns="0" bIns="0" rtlCol="0" anchor="ctr"/>
          <a:lstStyle/>
          <a:p>
            <a:pPr marL="0" indent="0">
              <a:buNone/>
            </a:pPr>
            <a:r>
              <a:rPr lang="en-US" sz="900" b="1" dirty="0">
                <a:solidFill>
                  <a:srgbClr val="0B5CAD"/>
                </a:solidFill>
              </a:rPr>
              <a:t>03</a:t>
            </a:r>
            <a:endParaRPr lang="en-US" sz="900" dirty="0"/>
          </a:p>
        </p:txBody>
      </p:sp>
      <p:sp>
        <p:nvSpPr>
          <p:cNvPr id="23" name="Text 21"/>
          <p:cNvSpPr/>
          <p:nvPr/>
        </p:nvSpPr>
        <p:spPr>
          <a:xfrm>
            <a:off x="4709160" y="2980944"/>
            <a:ext cx="868680" cy="219456"/>
          </a:xfrm>
          <a:prstGeom prst="rect">
            <a:avLst/>
          </a:prstGeom>
          <a:noFill/>
        </p:spPr>
        <p:txBody>
          <a:bodyPr wrap="square" lIns="0" tIns="0" rIns="0" bIns="0" rtlCol="0" anchor="ctr">
            <a:normAutofit/>
          </a:bodyPr>
          <a:lstStyle/>
          <a:p>
            <a:pPr marL="0" indent="0">
              <a:buNone/>
            </a:pPr>
            <a:r>
              <a:rPr lang="en-US" sz="1020" b="1" dirty="0">
                <a:solidFill>
                  <a:srgbClr val="071A3D"/>
                </a:solidFill>
              </a:rPr>
              <a:t>Preparación</a:t>
            </a:r>
            <a:endParaRPr lang="en-US" sz="1020" dirty="0"/>
          </a:p>
        </p:txBody>
      </p:sp>
      <p:sp>
        <p:nvSpPr>
          <p:cNvPr id="24" name="Text 22"/>
          <p:cNvSpPr/>
          <p:nvPr/>
        </p:nvSpPr>
        <p:spPr>
          <a:xfrm>
            <a:off x="4407408" y="3291840"/>
            <a:ext cx="1197864" cy="182880"/>
          </a:xfrm>
          <a:prstGeom prst="rect">
            <a:avLst/>
          </a:prstGeom>
          <a:noFill/>
        </p:spPr>
        <p:txBody>
          <a:bodyPr wrap="square" lIns="0" tIns="0" rIns="0" bIns="0" rtlCol="0" anchor="ctr">
            <a:normAutofit/>
          </a:bodyPr>
          <a:lstStyle/>
          <a:p>
            <a:pPr marL="0" indent="0" algn="ctr">
              <a:buNone/>
            </a:pPr>
            <a:r>
              <a:rPr lang="en-US" sz="650" dirty="0">
                <a:solidFill>
                  <a:srgbClr val="5D6D7E"/>
                </a:solidFill>
              </a:rPr>
              <a:t>Limpieza y transformación</a:t>
            </a:r>
            <a:endParaRPr lang="en-US" sz="650" dirty="0"/>
          </a:p>
        </p:txBody>
      </p:sp>
      <p:sp>
        <p:nvSpPr>
          <p:cNvPr id="25" name="Shape 23"/>
          <p:cNvSpPr/>
          <p:nvPr/>
        </p:nvSpPr>
        <p:spPr>
          <a:xfrm>
            <a:off x="6080760" y="2880360"/>
            <a:ext cx="1417320" cy="713232"/>
          </a:xfrm>
          <a:prstGeom prst="roundRect">
            <a:avLst>
              <a:gd name="adj" fmla="val 10256"/>
            </a:avLst>
          </a:prstGeom>
          <a:solidFill>
            <a:srgbClr val="FFFFFF"/>
          </a:solidFill>
          <a:ln w="12700">
            <a:solidFill>
              <a:srgbClr val="C9D8EA"/>
            </a:solidFill>
            <a:prstDash val="solid"/>
          </a:ln>
          <a:effectLst>
            <a:outerShdw blurRad="12700" dist="50800" dir="2700000" algn="bl" rotWithShape="0">
              <a:srgbClr val="000000">
                <a:alpha val="8000"/>
              </a:srgbClr>
            </a:outerShdw>
          </a:effectLst>
        </p:spPr>
      </p:sp>
      <p:sp>
        <p:nvSpPr>
          <p:cNvPr id="26" name="Text 24"/>
          <p:cNvSpPr/>
          <p:nvPr/>
        </p:nvSpPr>
        <p:spPr>
          <a:xfrm>
            <a:off x="6153912" y="2990088"/>
            <a:ext cx="320040" cy="182880"/>
          </a:xfrm>
          <a:prstGeom prst="rect">
            <a:avLst/>
          </a:prstGeom>
          <a:noFill/>
        </p:spPr>
        <p:txBody>
          <a:bodyPr wrap="square" lIns="0" tIns="0" rIns="0" bIns="0" rtlCol="0" anchor="ctr"/>
          <a:lstStyle/>
          <a:p>
            <a:pPr marL="0" indent="0">
              <a:buNone/>
            </a:pPr>
            <a:r>
              <a:rPr lang="en-US" sz="900" b="1" dirty="0">
                <a:solidFill>
                  <a:srgbClr val="0B5CAD"/>
                </a:solidFill>
              </a:rPr>
              <a:t>04</a:t>
            </a:r>
            <a:endParaRPr lang="en-US" sz="900" dirty="0"/>
          </a:p>
        </p:txBody>
      </p:sp>
      <p:sp>
        <p:nvSpPr>
          <p:cNvPr id="27" name="Text 25"/>
          <p:cNvSpPr/>
          <p:nvPr/>
        </p:nvSpPr>
        <p:spPr>
          <a:xfrm>
            <a:off x="6492240" y="2980944"/>
            <a:ext cx="868680" cy="219456"/>
          </a:xfrm>
          <a:prstGeom prst="rect">
            <a:avLst/>
          </a:prstGeom>
          <a:noFill/>
        </p:spPr>
        <p:txBody>
          <a:bodyPr wrap="square" lIns="0" tIns="0" rIns="0" bIns="0" rtlCol="0" anchor="ctr">
            <a:normAutofit/>
          </a:bodyPr>
          <a:lstStyle/>
          <a:p>
            <a:pPr marL="0" indent="0">
              <a:buNone/>
            </a:pPr>
            <a:r>
              <a:rPr lang="en-US" sz="1020" b="1" dirty="0">
                <a:solidFill>
                  <a:srgbClr val="071A3D"/>
                </a:solidFill>
              </a:rPr>
              <a:t>Modelado</a:t>
            </a:r>
            <a:endParaRPr lang="en-US" sz="1020" dirty="0"/>
          </a:p>
        </p:txBody>
      </p:sp>
      <p:sp>
        <p:nvSpPr>
          <p:cNvPr id="28" name="Text 26"/>
          <p:cNvSpPr/>
          <p:nvPr/>
        </p:nvSpPr>
        <p:spPr>
          <a:xfrm>
            <a:off x="6190488" y="3291840"/>
            <a:ext cx="1197864" cy="182880"/>
          </a:xfrm>
          <a:prstGeom prst="rect">
            <a:avLst/>
          </a:prstGeom>
          <a:noFill/>
        </p:spPr>
        <p:txBody>
          <a:bodyPr wrap="square" lIns="0" tIns="0" rIns="0" bIns="0" rtlCol="0" anchor="ctr">
            <a:normAutofit/>
          </a:bodyPr>
          <a:lstStyle/>
          <a:p>
            <a:pPr marL="0" indent="0" algn="ctr">
              <a:buNone/>
            </a:pPr>
            <a:r>
              <a:rPr lang="en-US" sz="650" dirty="0">
                <a:solidFill>
                  <a:srgbClr val="5D6D7E"/>
                </a:solidFill>
              </a:rPr>
              <a:t>Clasificación, regresión, K-Means</a:t>
            </a:r>
            <a:endParaRPr lang="en-US" sz="650" dirty="0"/>
          </a:p>
        </p:txBody>
      </p:sp>
      <p:sp>
        <p:nvSpPr>
          <p:cNvPr id="29" name="Shape 27"/>
          <p:cNvSpPr/>
          <p:nvPr/>
        </p:nvSpPr>
        <p:spPr>
          <a:xfrm>
            <a:off x="7863840" y="2880360"/>
            <a:ext cx="1417320" cy="713232"/>
          </a:xfrm>
          <a:prstGeom prst="roundRect">
            <a:avLst>
              <a:gd name="adj" fmla="val 10256"/>
            </a:avLst>
          </a:prstGeom>
          <a:solidFill>
            <a:srgbClr val="FFFFFF"/>
          </a:solidFill>
          <a:ln w="12700">
            <a:solidFill>
              <a:srgbClr val="C9D8EA"/>
            </a:solidFill>
            <a:prstDash val="solid"/>
          </a:ln>
          <a:effectLst>
            <a:outerShdw blurRad="12700" dist="50800" dir="2700000" algn="bl" rotWithShape="0">
              <a:srgbClr val="000000">
                <a:alpha val="8000"/>
              </a:srgbClr>
            </a:outerShdw>
          </a:effectLst>
        </p:spPr>
      </p:sp>
      <p:sp>
        <p:nvSpPr>
          <p:cNvPr id="30" name="Text 28"/>
          <p:cNvSpPr/>
          <p:nvPr/>
        </p:nvSpPr>
        <p:spPr>
          <a:xfrm>
            <a:off x="7936992" y="2990088"/>
            <a:ext cx="320040" cy="182880"/>
          </a:xfrm>
          <a:prstGeom prst="rect">
            <a:avLst/>
          </a:prstGeom>
          <a:noFill/>
        </p:spPr>
        <p:txBody>
          <a:bodyPr wrap="square" lIns="0" tIns="0" rIns="0" bIns="0" rtlCol="0" anchor="ctr"/>
          <a:lstStyle/>
          <a:p>
            <a:pPr marL="0" indent="0">
              <a:buNone/>
            </a:pPr>
            <a:r>
              <a:rPr lang="en-US" sz="900" b="1" dirty="0">
                <a:solidFill>
                  <a:srgbClr val="0B5CAD"/>
                </a:solidFill>
              </a:rPr>
              <a:t>05</a:t>
            </a:r>
            <a:endParaRPr lang="en-US" sz="900" dirty="0"/>
          </a:p>
        </p:txBody>
      </p:sp>
      <p:sp>
        <p:nvSpPr>
          <p:cNvPr id="31" name="Text 29"/>
          <p:cNvSpPr/>
          <p:nvPr/>
        </p:nvSpPr>
        <p:spPr>
          <a:xfrm>
            <a:off x="8275320" y="2980944"/>
            <a:ext cx="868680" cy="219456"/>
          </a:xfrm>
          <a:prstGeom prst="rect">
            <a:avLst/>
          </a:prstGeom>
          <a:noFill/>
        </p:spPr>
        <p:txBody>
          <a:bodyPr wrap="square" lIns="0" tIns="0" rIns="0" bIns="0" rtlCol="0" anchor="ctr">
            <a:normAutofit/>
          </a:bodyPr>
          <a:lstStyle/>
          <a:p>
            <a:pPr marL="0" indent="0">
              <a:buNone/>
            </a:pPr>
            <a:r>
              <a:rPr lang="en-US" sz="1020" b="1" dirty="0">
                <a:solidFill>
                  <a:srgbClr val="071A3D"/>
                </a:solidFill>
              </a:rPr>
              <a:t>Evaluación</a:t>
            </a:r>
            <a:endParaRPr lang="en-US" sz="1020" dirty="0"/>
          </a:p>
        </p:txBody>
      </p:sp>
      <p:sp>
        <p:nvSpPr>
          <p:cNvPr id="32" name="Text 30"/>
          <p:cNvSpPr/>
          <p:nvPr/>
        </p:nvSpPr>
        <p:spPr>
          <a:xfrm>
            <a:off x="7973568" y="3291840"/>
            <a:ext cx="1197864" cy="182880"/>
          </a:xfrm>
          <a:prstGeom prst="rect">
            <a:avLst/>
          </a:prstGeom>
          <a:noFill/>
        </p:spPr>
        <p:txBody>
          <a:bodyPr wrap="square" lIns="0" tIns="0" rIns="0" bIns="0" rtlCol="0" anchor="ctr">
            <a:normAutofit/>
          </a:bodyPr>
          <a:lstStyle/>
          <a:p>
            <a:pPr marL="0" indent="0" algn="ctr">
              <a:buNone/>
            </a:pPr>
            <a:r>
              <a:rPr lang="en-US" sz="650" dirty="0">
                <a:solidFill>
                  <a:srgbClr val="5D6D7E"/>
                </a:solidFill>
              </a:rPr>
              <a:t>Métricas y selección</a:t>
            </a:r>
            <a:endParaRPr lang="en-US" sz="650" dirty="0"/>
          </a:p>
        </p:txBody>
      </p:sp>
      <p:sp>
        <p:nvSpPr>
          <p:cNvPr id="33" name="Shape 31"/>
          <p:cNvSpPr/>
          <p:nvPr/>
        </p:nvSpPr>
        <p:spPr>
          <a:xfrm>
            <a:off x="9646920" y="2880360"/>
            <a:ext cx="1417320" cy="713232"/>
          </a:xfrm>
          <a:prstGeom prst="roundRect">
            <a:avLst>
              <a:gd name="adj" fmla="val 10256"/>
            </a:avLst>
          </a:prstGeom>
          <a:solidFill>
            <a:srgbClr val="071A3D"/>
          </a:solidFill>
          <a:ln w="12700">
            <a:solidFill>
              <a:srgbClr val="071A3D"/>
            </a:solidFill>
            <a:prstDash val="solid"/>
          </a:ln>
          <a:effectLst>
            <a:outerShdw blurRad="12700" dist="50800" dir="2700000" algn="bl" rotWithShape="0">
              <a:srgbClr val="000000">
                <a:alpha val="8000"/>
              </a:srgbClr>
            </a:outerShdw>
          </a:effectLst>
        </p:spPr>
      </p:sp>
      <p:sp>
        <p:nvSpPr>
          <p:cNvPr id="34" name="Text 32"/>
          <p:cNvSpPr/>
          <p:nvPr/>
        </p:nvSpPr>
        <p:spPr>
          <a:xfrm>
            <a:off x="9720072" y="2990088"/>
            <a:ext cx="320040" cy="182880"/>
          </a:xfrm>
          <a:prstGeom prst="rect">
            <a:avLst/>
          </a:prstGeom>
          <a:noFill/>
        </p:spPr>
        <p:txBody>
          <a:bodyPr wrap="square" lIns="0" tIns="0" rIns="0" bIns="0" rtlCol="0" anchor="ctr"/>
          <a:lstStyle/>
          <a:p>
            <a:pPr marL="0" indent="0">
              <a:buNone/>
            </a:pPr>
            <a:r>
              <a:rPr lang="en-US" sz="900" b="1" dirty="0">
                <a:solidFill>
                  <a:srgbClr val="FFFFFF"/>
                </a:solidFill>
              </a:rPr>
              <a:t>06</a:t>
            </a:r>
            <a:endParaRPr lang="en-US" sz="900" dirty="0"/>
          </a:p>
        </p:txBody>
      </p:sp>
      <p:sp>
        <p:nvSpPr>
          <p:cNvPr id="35" name="Text 33"/>
          <p:cNvSpPr/>
          <p:nvPr/>
        </p:nvSpPr>
        <p:spPr>
          <a:xfrm>
            <a:off x="10058400" y="2980944"/>
            <a:ext cx="868680" cy="219456"/>
          </a:xfrm>
          <a:prstGeom prst="rect">
            <a:avLst/>
          </a:prstGeom>
          <a:noFill/>
        </p:spPr>
        <p:txBody>
          <a:bodyPr wrap="square" lIns="0" tIns="0" rIns="0" bIns="0" rtlCol="0" anchor="ctr">
            <a:normAutofit/>
          </a:bodyPr>
          <a:lstStyle/>
          <a:p>
            <a:pPr marL="0" indent="0">
              <a:buNone/>
            </a:pPr>
            <a:r>
              <a:rPr lang="en-US" sz="1020" b="1" dirty="0">
                <a:solidFill>
                  <a:srgbClr val="FFFFFF"/>
                </a:solidFill>
              </a:rPr>
              <a:t>Visualización</a:t>
            </a:r>
            <a:endParaRPr lang="en-US" sz="1020" dirty="0"/>
          </a:p>
        </p:txBody>
      </p:sp>
      <p:sp>
        <p:nvSpPr>
          <p:cNvPr id="36" name="Text 34"/>
          <p:cNvSpPr/>
          <p:nvPr/>
        </p:nvSpPr>
        <p:spPr>
          <a:xfrm>
            <a:off x="9756648" y="3291840"/>
            <a:ext cx="1197864" cy="182880"/>
          </a:xfrm>
          <a:prstGeom prst="rect">
            <a:avLst/>
          </a:prstGeom>
          <a:noFill/>
        </p:spPr>
        <p:txBody>
          <a:bodyPr wrap="square" lIns="0" tIns="0" rIns="0" bIns="0" rtlCol="0" anchor="ctr">
            <a:normAutofit/>
          </a:bodyPr>
          <a:lstStyle/>
          <a:p>
            <a:pPr marL="0" indent="0" algn="ctr">
              <a:buNone/>
            </a:pPr>
            <a:r>
              <a:rPr lang="en-US" sz="650" dirty="0">
                <a:solidFill>
                  <a:srgbClr val="D8F4FF"/>
                </a:solidFill>
              </a:rPr>
              <a:t>Power BI e insights</a:t>
            </a:r>
            <a:endParaRPr lang="en-US" sz="650" dirty="0"/>
          </a:p>
        </p:txBody>
      </p:sp>
      <p:sp>
        <p:nvSpPr>
          <p:cNvPr id="37" name="Shape 35"/>
          <p:cNvSpPr/>
          <p:nvPr/>
        </p:nvSpPr>
        <p:spPr>
          <a:xfrm>
            <a:off x="731520" y="1280160"/>
            <a:ext cx="4846320" cy="960120"/>
          </a:xfrm>
          <a:prstGeom prst="roundRect">
            <a:avLst>
              <a:gd name="adj" fmla="val 7619"/>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38" name="Shape 36"/>
          <p:cNvSpPr/>
          <p:nvPr/>
        </p:nvSpPr>
        <p:spPr>
          <a:xfrm>
            <a:off x="731520" y="1280160"/>
            <a:ext cx="82296" cy="960120"/>
          </a:xfrm>
          <a:prstGeom prst="rect">
            <a:avLst/>
          </a:prstGeom>
          <a:solidFill>
            <a:srgbClr val="19A7CE"/>
          </a:solidFill>
          <a:ln w="12700">
            <a:solidFill>
              <a:srgbClr val="19A7CE"/>
            </a:solidFill>
            <a:prstDash val="solid"/>
          </a:ln>
        </p:spPr>
      </p:sp>
      <p:sp>
        <p:nvSpPr>
          <p:cNvPr id="39" name="Text 37"/>
          <p:cNvSpPr/>
          <p:nvPr/>
        </p:nvSpPr>
        <p:spPr>
          <a:xfrm>
            <a:off x="896112" y="1417320"/>
            <a:ext cx="4553712" cy="201168"/>
          </a:xfrm>
          <a:prstGeom prst="rect">
            <a:avLst/>
          </a:prstGeom>
          <a:noFill/>
        </p:spPr>
        <p:txBody>
          <a:bodyPr wrap="square" lIns="0" tIns="0" rIns="0" bIns="0" rtlCol="0" anchor="ctr"/>
          <a:lstStyle/>
          <a:p>
            <a:pPr marL="0" indent="0">
              <a:buNone/>
            </a:pPr>
            <a:r>
              <a:rPr lang="en-US" sz="1050" b="1" dirty="0">
                <a:solidFill>
                  <a:srgbClr val="071A3D"/>
                </a:solidFill>
              </a:rPr>
              <a:t>Enfoque</a:t>
            </a:r>
            <a:endParaRPr lang="en-US" sz="1050" dirty="0"/>
          </a:p>
        </p:txBody>
      </p:sp>
      <p:sp>
        <p:nvSpPr>
          <p:cNvPr id="40" name="Text 38"/>
          <p:cNvSpPr/>
          <p:nvPr/>
        </p:nvSpPr>
        <p:spPr>
          <a:xfrm>
            <a:off x="896112" y="1719072"/>
            <a:ext cx="4553712" cy="393192"/>
          </a:xfrm>
          <a:prstGeom prst="rect">
            <a:avLst/>
          </a:prstGeom>
          <a:noFill/>
        </p:spPr>
        <p:txBody>
          <a:bodyPr wrap="square" lIns="127" tIns="127" rIns="127" bIns="127" rtlCol="0" anchor="ctr">
            <a:normAutofit/>
          </a:bodyPr>
          <a:lstStyle/>
          <a:p>
            <a:pPr marL="0" indent="0">
              <a:buNone/>
            </a:pPr>
            <a:r>
              <a:rPr lang="en-US" sz="820" dirty="0">
                <a:solidFill>
                  <a:srgbClr val="111827"/>
                </a:solidFill>
              </a:rPr>
              <a:t>La metodología permitió mantener una trazabilidad completa entre problema, datos, preparación, modelos, métricas y visualización ejecutiva.</a:t>
            </a:r>
            <a:endParaRPr lang="en-US" sz="820" dirty="0"/>
          </a:p>
        </p:txBody>
      </p:sp>
      <p:sp>
        <p:nvSpPr>
          <p:cNvPr id="41" name="Shape 39"/>
          <p:cNvSpPr/>
          <p:nvPr/>
        </p:nvSpPr>
        <p:spPr>
          <a:xfrm>
            <a:off x="5897880" y="1280160"/>
            <a:ext cx="5440680" cy="960120"/>
          </a:xfrm>
          <a:prstGeom prst="roundRect">
            <a:avLst>
              <a:gd name="adj" fmla="val 7619"/>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42" name="Shape 40"/>
          <p:cNvSpPr/>
          <p:nvPr/>
        </p:nvSpPr>
        <p:spPr>
          <a:xfrm>
            <a:off x="5897880" y="1280160"/>
            <a:ext cx="82296" cy="960120"/>
          </a:xfrm>
          <a:prstGeom prst="rect">
            <a:avLst/>
          </a:prstGeom>
          <a:solidFill>
            <a:srgbClr val="2A9D8F"/>
          </a:solidFill>
          <a:ln w="12700">
            <a:solidFill>
              <a:srgbClr val="2A9D8F"/>
            </a:solidFill>
            <a:prstDash val="solid"/>
          </a:ln>
        </p:spPr>
      </p:sp>
      <p:sp>
        <p:nvSpPr>
          <p:cNvPr id="43" name="Text 41"/>
          <p:cNvSpPr/>
          <p:nvPr/>
        </p:nvSpPr>
        <p:spPr>
          <a:xfrm>
            <a:off x="6062472" y="1417320"/>
            <a:ext cx="5148072" cy="201168"/>
          </a:xfrm>
          <a:prstGeom prst="rect">
            <a:avLst/>
          </a:prstGeom>
          <a:noFill/>
        </p:spPr>
        <p:txBody>
          <a:bodyPr wrap="square" lIns="0" tIns="0" rIns="0" bIns="0" rtlCol="0" anchor="ctr"/>
          <a:lstStyle/>
          <a:p>
            <a:pPr marL="0" indent="0">
              <a:buNone/>
            </a:pPr>
            <a:r>
              <a:rPr lang="en-US" sz="1050" b="1" dirty="0">
                <a:solidFill>
                  <a:srgbClr val="071A3D"/>
                </a:solidFill>
              </a:rPr>
              <a:t>Valor final</a:t>
            </a:r>
            <a:endParaRPr lang="en-US" sz="1050" dirty="0"/>
          </a:p>
        </p:txBody>
      </p:sp>
      <p:sp>
        <p:nvSpPr>
          <p:cNvPr id="44" name="Text 42"/>
          <p:cNvSpPr/>
          <p:nvPr/>
        </p:nvSpPr>
        <p:spPr>
          <a:xfrm>
            <a:off x="6062472" y="1719072"/>
            <a:ext cx="5148072" cy="393192"/>
          </a:xfrm>
          <a:prstGeom prst="rect">
            <a:avLst/>
          </a:prstGeom>
          <a:noFill/>
        </p:spPr>
        <p:txBody>
          <a:bodyPr wrap="square" lIns="127" tIns="127" rIns="127" bIns="127" rtlCol="0" anchor="ctr">
            <a:normAutofit/>
          </a:bodyPr>
          <a:lstStyle/>
          <a:p>
            <a:pPr marL="0" indent="0">
              <a:buNone/>
            </a:pPr>
            <a:r>
              <a:rPr lang="en-US" sz="820" dirty="0">
                <a:solidFill>
                  <a:srgbClr val="111827"/>
                </a:solidFill>
              </a:rPr>
              <a:t>Power BI transforma las métricas del notebook en indicadores, patrones territoriales y acciones recomendadas para el negocio.</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F8FBFF">
                <a:alpha val="0"/>
              </a:srgbClr>
            </a:solidFill>
            <a:prstDash val="solid"/>
          </a:ln>
        </p:spPr>
      </p:sp>
      <p:sp>
        <p:nvSpPr>
          <p:cNvPr id="3" name="Text 1"/>
          <p:cNvSpPr/>
          <p:nvPr/>
        </p:nvSpPr>
        <p:spPr>
          <a:xfrm>
            <a:off x="594360" y="256032"/>
            <a:ext cx="9601200" cy="347472"/>
          </a:xfrm>
          <a:prstGeom prst="rect">
            <a:avLst/>
          </a:prstGeom>
          <a:noFill/>
        </p:spPr>
        <p:txBody>
          <a:bodyPr wrap="square" lIns="0" tIns="0" rIns="0" bIns="0" rtlCol="0" anchor="ctr"/>
          <a:lstStyle/>
          <a:p>
            <a:pPr marL="0" indent="0">
              <a:buNone/>
            </a:pPr>
            <a:r>
              <a:rPr lang="en-US" sz="2500" b="1" dirty="0">
                <a:solidFill>
                  <a:srgbClr val="071A3D"/>
                </a:solidFill>
                <a:latin typeface="Arial" panose="020B0604020202020204" pitchFamily="34" charset="0"/>
                <a:ea typeface="Arial" panose="020B0604020202020204" pitchFamily="34" charset="-122"/>
                <a:cs typeface="Arial" panose="020B0604020202020204" pitchFamily="34" charset="-120"/>
              </a:rPr>
              <a:t>Preparación de datos: base confiable para modelar</a:t>
            </a:r>
            <a:endParaRPr lang="en-US" sz="2500" dirty="0"/>
          </a:p>
        </p:txBody>
      </p:sp>
      <p:sp>
        <p:nvSpPr>
          <p:cNvPr id="4" name="Text 2"/>
          <p:cNvSpPr/>
          <p:nvPr/>
        </p:nvSpPr>
        <p:spPr>
          <a:xfrm>
            <a:off x="603504" y="713232"/>
            <a:ext cx="8961120" cy="237744"/>
          </a:xfrm>
          <a:prstGeom prst="rect">
            <a:avLst/>
          </a:prstGeom>
          <a:noFill/>
        </p:spPr>
        <p:txBody>
          <a:bodyPr wrap="square" lIns="0" tIns="0" rIns="0" bIns="0" rtlCol="0" anchor="ctr"/>
          <a:lstStyle/>
          <a:p>
            <a:pPr marL="0" indent="0">
              <a:buNone/>
            </a:pPr>
            <a:r>
              <a:rPr lang="en-US" sz="1050" dirty="0">
                <a:solidFill>
                  <a:srgbClr val="5D6D7E"/>
                </a:solidFill>
                <a:latin typeface="Arial" panose="020B0604020202020204" pitchFamily="34" charset="0"/>
                <a:ea typeface="Arial" panose="020B0604020202020204" pitchFamily="34" charset="-122"/>
                <a:cs typeface="Arial" panose="020B0604020202020204" pitchFamily="34" charset="-120"/>
              </a:rPr>
              <a:t>Limpieza, transformación y control de calidad antes del entrenamiento</a:t>
            </a:r>
            <a:endParaRPr lang="en-US" sz="1050" dirty="0"/>
          </a:p>
        </p:txBody>
      </p:sp>
      <p:sp>
        <p:nvSpPr>
          <p:cNvPr id="5" name="Shape 3"/>
          <p:cNvSpPr/>
          <p:nvPr/>
        </p:nvSpPr>
        <p:spPr>
          <a:xfrm>
            <a:off x="594360" y="1024128"/>
            <a:ext cx="10972800" cy="0"/>
          </a:xfrm>
          <a:prstGeom prst="line">
            <a:avLst/>
          </a:prstGeom>
          <a:noFill/>
          <a:ln w="12700">
            <a:solidFill>
              <a:srgbClr val="C9D8EA"/>
            </a:solidFill>
            <a:prstDash val="solid"/>
          </a:ln>
        </p:spPr>
      </p:sp>
      <p:sp>
        <p:nvSpPr>
          <p:cNvPr id="6" name="Text 4"/>
          <p:cNvSpPr/>
          <p:nvPr/>
        </p:nvSpPr>
        <p:spPr>
          <a:xfrm>
            <a:off x="594360" y="6473952"/>
            <a:ext cx="5120640" cy="182880"/>
          </a:xfrm>
          <a:prstGeom prst="rect">
            <a:avLst/>
          </a:prstGeom>
          <a:noFill/>
        </p:spPr>
        <p:txBody>
          <a:bodyPr wrap="square" lIns="0" tIns="0" rIns="0" bIns="0" rtlCol="0" anchor="ctr"/>
          <a:lstStyle/>
          <a:p>
            <a:pPr marL="0" indent="0">
              <a:buNone/>
            </a:pPr>
            <a:r>
              <a:rPr lang="en-US" sz="750" dirty="0">
                <a:solidFill>
                  <a:srgbClr val="708090"/>
                </a:solidFill>
              </a:rPr>
              <a:t>BIY7121 Minería de Datos | Power BI + CRISP-DM</a:t>
            </a:r>
            <a:endParaRPr lang="en-US" sz="750" dirty="0"/>
          </a:p>
        </p:txBody>
      </p:sp>
      <p:sp>
        <p:nvSpPr>
          <p:cNvPr id="7" name="Text 5"/>
          <p:cNvSpPr/>
          <p:nvPr/>
        </p:nvSpPr>
        <p:spPr>
          <a:xfrm>
            <a:off x="11064240" y="6446520"/>
            <a:ext cx="502920" cy="228600"/>
          </a:xfrm>
          <a:prstGeom prst="rect">
            <a:avLst/>
          </a:prstGeom>
          <a:noFill/>
        </p:spPr>
        <p:txBody>
          <a:bodyPr wrap="square" lIns="0" tIns="0" rIns="0" bIns="0" rtlCol="0" anchor="ctr"/>
          <a:lstStyle/>
          <a:p>
            <a:pPr marL="0" indent="0" algn="r">
              <a:buNone/>
            </a:pPr>
            <a:r>
              <a:rPr lang="en-US" sz="850" dirty="0">
                <a:solidFill>
                  <a:srgbClr val="708090"/>
                </a:solidFill>
              </a:rPr>
              <a:t>04</a:t>
            </a:r>
            <a:endParaRPr lang="en-US" sz="850" dirty="0"/>
          </a:p>
        </p:txBody>
      </p:sp>
      <p:sp>
        <p:nvSpPr>
          <p:cNvPr id="8" name="Shape 6"/>
          <p:cNvSpPr/>
          <p:nvPr/>
        </p:nvSpPr>
        <p:spPr>
          <a:xfrm>
            <a:off x="566928" y="1298448"/>
            <a:ext cx="5495544" cy="3118104"/>
          </a:xfrm>
          <a:prstGeom prst="roundRect">
            <a:avLst>
              <a:gd name="adj" fmla="val 1760"/>
            </a:avLst>
          </a:prstGeom>
          <a:solidFill>
            <a:srgbClr val="FFFFFF"/>
          </a:solidFill>
          <a:ln w="12700">
            <a:solidFill>
              <a:srgbClr val="D6E4F2"/>
            </a:solidFill>
            <a:prstDash val="solid"/>
          </a:ln>
          <a:effectLst>
            <a:outerShdw blurRad="12700" dist="50800" dir="2700000" algn="bl" rotWithShape="0">
              <a:srgbClr val="000000">
                <a:alpha val="12000"/>
              </a:srgbClr>
            </a:outerShdw>
          </a:effectLst>
        </p:spPr>
      </p:sp>
      <p:sp>
        <p:nvSpPr>
          <p:cNvPr id="9" name="Text 7"/>
          <p:cNvSpPr/>
          <p:nvPr/>
        </p:nvSpPr>
        <p:spPr>
          <a:xfrm>
            <a:off x="594360" y="1097280"/>
            <a:ext cx="5440680" cy="182880"/>
          </a:xfrm>
          <a:prstGeom prst="rect">
            <a:avLst/>
          </a:prstGeom>
          <a:noFill/>
        </p:spPr>
        <p:txBody>
          <a:bodyPr wrap="square" lIns="0" tIns="0" rIns="0" bIns="0" rtlCol="0" anchor="ctr"/>
          <a:lstStyle/>
          <a:p>
            <a:pPr marL="0" indent="0">
              <a:buNone/>
            </a:pPr>
            <a:r>
              <a:rPr lang="en-US" sz="860" b="1" dirty="0">
                <a:solidFill>
                  <a:srgbClr val="071A3D"/>
                </a:solidFill>
              </a:rPr>
              <a:t>Calidad del dataset</a:t>
            </a:r>
            <a:endParaRPr lang="en-US" sz="860" dirty="0"/>
          </a:p>
        </p:txBody>
      </p:sp>
      <p:pic>
        <p:nvPicPr>
          <p:cNvPr id="10" name="Image 0" descr="/mnt/data/ppt_assets/quality_kpis_chart.png"/>
          <p:cNvPicPr>
            <a:picLocks noChangeAspect="1"/>
          </p:cNvPicPr>
          <p:nvPr/>
        </p:nvPicPr>
        <p:blipFill>
          <a:blip r:embed="rId1"/>
          <a:stretch>
            <a:fillRect/>
          </a:stretch>
        </p:blipFill>
        <p:spPr>
          <a:xfrm>
            <a:off x="594360" y="1465098"/>
            <a:ext cx="5440680" cy="2784803"/>
          </a:xfrm>
          <a:prstGeom prst="rect">
            <a:avLst/>
          </a:prstGeom>
        </p:spPr>
      </p:pic>
      <p:sp>
        <p:nvSpPr>
          <p:cNvPr id="11" name="Shape 8"/>
          <p:cNvSpPr/>
          <p:nvPr/>
        </p:nvSpPr>
        <p:spPr>
          <a:xfrm>
            <a:off x="6281928" y="1298448"/>
            <a:ext cx="5312664" cy="3118104"/>
          </a:xfrm>
          <a:prstGeom prst="roundRect">
            <a:avLst>
              <a:gd name="adj" fmla="val 1760"/>
            </a:avLst>
          </a:prstGeom>
          <a:solidFill>
            <a:srgbClr val="FFFFFF"/>
          </a:solidFill>
          <a:ln w="12700">
            <a:solidFill>
              <a:srgbClr val="D6E4F2"/>
            </a:solidFill>
            <a:prstDash val="solid"/>
          </a:ln>
          <a:effectLst>
            <a:outerShdw blurRad="12700" dist="50800" dir="2700000" algn="bl" rotWithShape="0">
              <a:srgbClr val="000000">
                <a:alpha val="12000"/>
              </a:srgbClr>
            </a:outerShdw>
          </a:effectLst>
        </p:spPr>
      </p:sp>
      <p:sp>
        <p:nvSpPr>
          <p:cNvPr id="12" name="Text 9"/>
          <p:cNvSpPr/>
          <p:nvPr/>
        </p:nvSpPr>
        <p:spPr>
          <a:xfrm>
            <a:off x="6309360" y="1097280"/>
            <a:ext cx="5257800" cy="182880"/>
          </a:xfrm>
          <a:prstGeom prst="rect">
            <a:avLst/>
          </a:prstGeom>
          <a:noFill/>
        </p:spPr>
        <p:txBody>
          <a:bodyPr wrap="square" lIns="0" tIns="0" rIns="0" bIns="0" rtlCol="0" anchor="ctr"/>
          <a:lstStyle/>
          <a:p>
            <a:pPr marL="0" indent="0">
              <a:buNone/>
            </a:pPr>
            <a:r>
              <a:rPr lang="en-US" sz="860" b="1" dirty="0">
                <a:solidFill>
                  <a:srgbClr val="071A3D"/>
                </a:solidFill>
              </a:rPr>
              <a:t>Flujo de preparación</a:t>
            </a:r>
            <a:endParaRPr lang="en-US" sz="860" dirty="0"/>
          </a:p>
        </p:txBody>
      </p:sp>
      <p:pic>
        <p:nvPicPr>
          <p:cNvPr id="13" name="Image 1" descr="/mnt/data/ppt_assets/prep_flow_split.png"/>
          <p:cNvPicPr>
            <a:picLocks noChangeAspect="1"/>
          </p:cNvPicPr>
          <p:nvPr/>
        </p:nvPicPr>
        <p:blipFill>
          <a:blip r:embed="rId2"/>
          <a:stretch>
            <a:fillRect/>
          </a:stretch>
        </p:blipFill>
        <p:spPr>
          <a:xfrm>
            <a:off x="6309360" y="1479855"/>
            <a:ext cx="5257800" cy="2755289"/>
          </a:xfrm>
          <a:prstGeom prst="rect">
            <a:avLst/>
          </a:prstGeom>
        </p:spPr>
      </p:pic>
      <p:sp>
        <p:nvSpPr>
          <p:cNvPr id="14" name="Shape 10"/>
          <p:cNvSpPr/>
          <p:nvPr/>
        </p:nvSpPr>
        <p:spPr>
          <a:xfrm>
            <a:off x="914400" y="4800600"/>
            <a:ext cx="164592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15" name="Text 11"/>
          <p:cNvSpPr/>
          <p:nvPr/>
        </p:nvSpPr>
        <p:spPr>
          <a:xfrm>
            <a:off x="1005840" y="4910328"/>
            <a:ext cx="1463040" cy="228600"/>
          </a:xfrm>
          <a:prstGeom prst="rect">
            <a:avLst/>
          </a:prstGeom>
          <a:noFill/>
        </p:spPr>
        <p:txBody>
          <a:bodyPr wrap="square" lIns="0" tIns="0" rIns="0" bIns="0" rtlCol="0" anchor="ctr"/>
          <a:lstStyle/>
          <a:p>
            <a:pPr marL="0" indent="0" algn="ctr">
              <a:buNone/>
            </a:pPr>
            <a:r>
              <a:rPr lang="en-US" sz="1700" b="1" dirty="0">
                <a:solidFill>
                  <a:srgbClr val="2A9D8F"/>
                </a:solidFill>
              </a:rPr>
              <a:t>0</a:t>
            </a:r>
            <a:endParaRPr lang="en-US" sz="1700" dirty="0"/>
          </a:p>
        </p:txBody>
      </p:sp>
      <p:sp>
        <p:nvSpPr>
          <p:cNvPr id="16" name="Text 12"/>
          <p:cNvSpPr/>
          <p:nvPr/>
        </p:nvSpPr>
        <p:spPr>
          <a:xfrm>
            <a:off x="987552" y="5221224"/>
            <a:ext cx="149961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valores nulos finales</a:t>
            </a:r>
            <a:endParaRPr lang="en-US" sz="740" dirty="0"/>
          </a:p>
        </p:txBody>
      </p:sp>
      <p:sp>
        <p:nvSpPr>
          <p:cNvPr id="17" name="Shape 13"/>
          <p:cNvSpPr/>
          <p:nvPr/>
        </p:nvSpPr>
        <p:spPr>
          <a:xfrm>
            <a:off x="2743200" y="4800600"/>
            <a:ext cx="164592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18" name="Text 14"/>
          <p:cNvSpPr/>
          <p:nvPr/>
        </p:nvSpPr>
        <p:spPr>
          <a:xfrm>
            <a:off x="2834640" y="4910328"/>
            <a:ext cx="1463040" cy="228600"/>
          </a:xfrm>
          <a:prstGeom prst="rect">
            <a:avLst/>
          </a:prstGeom>
          <a:noFill/>
        </p:spPr>
        <p:txBody>
          <a:bodyPr wrap="square" lIns="0" tIns="0" rIns="0" bIns="0" rtlCol="0" anchor="ctr"/>
          <a:lstStyle/>
          <a:p>
            <a:pPr marL="0" indent="0" algn="ctr">
              <a:buNone/>
            </a:pPr>
            <a:r>
              <a:rPr lang="en-US" sz="1700" b="1" dirty="0">
                <a:solidFill>
                  <a:srgbClr val="0B5CAD"/>
                </a:solidFill>
              </a:rPr>
              <a:t>80/20</a:t>
            </a:r>
            <a:endParaRPr lang="en-US" sz="1700" dirty="0"/>
          </a:p>
        </p:txBody>
      </p:sp>
      <p:sp>
        <p:nvSpPr>
          <p:cNvPr id="19" name="Text 15"/>
          <p:cNvSpPr/>
          <p:nvPr/>
        </p:nvSpPr>
        <p:spPr>
          <a:xfrm>
            <a:off x="2816352" y="5221224"/>
            <a:ext cx="149961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train/test split</a:t>
            </a:r>
            <a:endParaRPr lang="en-US" sz="740" dirty="0"/>
          </a:p>
        </p:txBody>
      </p:sp>
      <p:sp>
        <p:nvSpPr>
          <p:cNvPr id="20" name="Shape 16"/>
          <p:cNvSpPr/>
          <p:nvPr/>
        </p:nvSpPr>
        <p:spPr>
          <a:xfrm>
            <a:off x="4572000" y="4800600"/>
            <a:ext cx="164592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21" name="Text 17"/>
          <p:cNvSpPr/>
          <p:nvPr/>
        </p:nvSpPr>
        <p:spPr>
          <a:xfrm>
            <a:off x="4663440" y="4910328"/>
            <a:ext cx="1463040" cy="228600"/>
          </a:xfrm>
          <a:prstGeom prst="rect">
            <a:avLst/>
          </a:prstGeom>
          <a:noFill/>
        </p:spPr>
        <p:txBody>
          <a:bodyPr wrap="square" lIns="0" tIns="0" rIns="0" bIns="0" rtlCol="0" anchor="ctr"/>
          <a:lstStyle/>
          <a:p>
            <a:pPr marL="0" indent="0" algn="ctr">
              <a:buNone/>
            </a:pPr>
            <a:r>
              <a:rPr lang="en-US" sz="1700" b="1" dirty="0">
                <a:solidFill>
                  <a:srgbClr val="0B5CAD"/>
                </a:solidFill>
              </a:rPr>
              <a:t>106</a:t>
            </a:r>
            <a:endParaRPr lang="en-US" sz="1700" dirty="0"/>
          </a:p>
        </p:txBody>
      </p:sp>
      <p:sp>
        <p:nvSpPr>
          <p:cNvPr id="22" name="Text 18"/>
          <p:cNvSpPr/>
          <p:nvPr/>
        </p:nvSpPr>
        <p:spPr>
          <a:xfrm>
            <a:off x="4645152" y="5221224"/>
            <a:ext cx="149961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variables finales</a:t>
            </a:r>
            <a:endParaRPr lang="en-US" sz="740" dirty="0"/>
          </a:p>
        </p:txBody>
      </p:sp>
      <p:sp>
        <p:nvSpPr>
          <p:cNvPr id="23" name="Shape 19"/>
          <p:cNvSpPr/>
          <p:nvPr/>
        </p:nvSpPr>
        <p:spPr>
          <a:xfrm>
            <a:off x="6583680" y="4754880"/>
            <a:ext cx="4754880" cy="1005840"/>
          </a:xfrm>
          <a:prstGeom prst="roundRect">
            <a:avLst>
              <a:gd name="adj" fmla="val 7273"/>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24" name="Shape 20"/>
          <p:cNvSpPr/>
          <p:nvPr/>
        </p:nvSpPr>
        <p:spPr>
          <a:xfrm>
            <a:off x="6583680" y="4754880"/>
            <a:ext cx="82296" cy="1005840"/>
          </a:xfrm>
          <a:prstGeom prst="rect">
            <a:avLst/>
          </a:prstGeom>
          <a:solidFill>
            <a:srgbClr val="F4A261"/>
          </a:solidFill>
          <a:ln w="12700">
            <a:solidFill>
              <a:srgbClr val="F4A261"/>
            </a:solidFill>
            <a:prstDash val="solid"/>
          </a:ln>
        </p:spPr>
      </p:sp>
      <p:sp>
        <p:nvSpPr>
          <p:cNvPr id="25" name="Text 21"/>
          <p:cNvSpPr/>
          <p:nvPr/>
        </p:nvSpPr>
        <p:spPr>
          <a:xfrm>
            <a:off x="6748272" y="4892040"/>
            <a:ext cx="4462272" cy="201168"/>
          </a:xfrm>
          <a:prstGeom prst="rect">
            <a:avLst/>
          </a:prstGeom>
          <a:noFill/>
        </p:spPr>
        <p:txBody>
          <a:bodyPr wrap="square" lIns="0" tIns="0" rIns="0" bIns="0" rtlCol="0" anchor="ctr"/>
          <a:lstStyle/>
          <a:p>
            <a:pPr marL="0" indent="0">
              <a:buNone/>
            </a:pPr>
            <a:r>
              <a:rPr lang="en-US" sz="1050" b="1" dirty="0">
                <a:solidFill>
                  <a:srgbClr val="071A3D"/>
                </a:solidFill>
              </a:rPr>
              <a:t>Decisión crítica</a:t>
            </a:r>
            <a:endParaRPr lang="en-US" sz="1050" dirty="0"/>
          </a:p>
        </p:txBody>
      </p:sp>
      <p:sp>
        <p:nvSpPr>
          <p:cNvPr id="26" name="Text 22"/>
          <p:cNvSpPr/>
          <p:nvPr/>
        </p:nvSpPr>
        <p:spPr>
          <a:xfrm>
            <a:off x="6748272" y="5193792"/>
            <a:ext cx="4462272" cy="438912"/>
          </a:xfrm>
          <a:prstGeom prst="rect">
            <a:avLst/>
          </a:prstGeom>
          <a:noFill/>
        </p:spPr>
        <p:txBody>
          <a:bodyPr wrap="square" lIns="127" tIns="127" rIns="127" bIns="127" rtlCol="0" anchor="ctr">
            <a:normAutofit/>
          </a:bodyPr>
          <a:lstStyle/>
          <a:p>
            <a:pPr marL="0" indent="0">
              <a:buNone/>
            </a:pPr>
            <a:r>
              <a:rPr lang="en-US" sz="820" dirty="0">
                <a:solidFill>
                  <a:srgbClr val="111827"/>
                </a:solidFill>
              </a:rPr>
              <a:t>RISK_MM se excluyó como predictor de RainTomorrow para evitar fuga de información: el modelo no debe usar lluvia del día siguiente para predecir lluvia del día siguiente.</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F8FBFF">
                <a:alpha val="0"/>
              </a:srgbClr>
            </a:solidFill>
            <a:prstDash val="solid"/>
          </a:ln>
        </p:spPr>
      </p:sp>
      <p:sp>
        <p:nvSpPr>
          <p:cNvPr id="3" name="Text 1"/>
          <p:cNvSpPr/>
          <p:nvPr/>
        </p:nvSpPr>
        <p:spPr>
          <a:xfrm>
            <a:off x="594360" y="256032"/>
            <a:ext cx="9601200" cy="347472"/>
          </a:xfrm>
          <a:prstGeom prst="rect">
            <a:avLst/>
          </a:prstGeom>
          <a:noFill/>
        </p:spPr>
        <p:txBody>
          <a:bodyPr wrap="square" lIns="0" tIns="0" rIns="0" bIns="0" rtlCol="0" anchor="ctr"/>
          <a:lstStyle/>
          <a:p>
            <a:pPr marL="0" indent="0">
              <a:buNone/>
            </a:pPr>
            <a:r>
              <a:rPr lang="en-US" sz="2500" b="1" dirty="0">
                <a:solidFill>
                  <a:srgbClr val="071A3D"/>
                </a:solidFill>
                <a:latin typeface="Arial" panose="020B0604020202020204" pitchFamily="34" charset="0"/>
                <a:ea typeface="Arial" panose="020B0604020202020204" pitchFamily="34" charset="-122"/>
                <a:cs typeface="Arial" panose="020B0604020202020204" pitchFamily="34" charset="-120"/>
              </a:rPr>
              <a:t>Técnicas aplicadas y variables del modelo</a:t>
            </a:r>
            <a:endParaRPr lang="en-US" sz="2500" dirty="0"/>
          </a:p>
        </p:txBody>
      </p:sp>
      <p:sp>
        <p:nvSpPr>
          <p:cNvPr id="4" name="Text 2"/>
          <p:cNvSpPr/>
          <p:nvPr/>
        </p:nvSpPr>
        <p:spPr>
          <a:xfrm>
            <a:off x="603504" y="713232"/>
            <a:ext cx="8961120" cy="237744"/>
          </a:xfrm>
          <a:prstGeom prst="rect">
            <a:avLst/>
          </a:prstGeom>
          <a:noFill/>
        </p:spPr>
        <p:txBody>
          <a:bodyPr wrap="square" lIns="0" tIns="0" rIns="0" bIns="0" rtlCol="0" anchor="ctr"/>
          <a:lstStyle/>
          <a:p>
            <a:pPr marL="0" indent="0">
              <a:buNone/>
            </a:pPr>
            <a:r>
              <a:rPr lang="en-US" sz="1050" dirty="0">
                <a:solidFill>
                  <a:srgbClr val="5D6D7E"/>
                </a:solidFill>
                <a:latin typeface="Arial" panose="020B0604020202020204" pitchFamily="34" charset="0"/>
                <a:ea typeface="Arial" panose="020B0604020202020204" pitchFamily="34" charset="-122"/>
                <a:cs typeface="Arial" panose="020B0604020202020204" pitchFamily="34" charset="-120"/>
              </a:rPr>
              <a:t>Clasificación, regresión y clustering para cubrir objetivos analíticos diferentes</a:t>
            </a:r>
            <a:endParaRPr lang="en-US" sz="1050" dirty="0"/>
          </a:p>
        </p:txBody>
      </p:sp>
      <p:sp>
        <p:nvSpPr>
          <p:cNvPr id="5" name="Shape 3"/>
          <p:cNvSpPr/>
          <p:nvPr/>
        </p:nvSpPr>
        <p:spPr>
          <a:xfrm>
            <a:off x="594360" y="1024128"/>
            <a:ext cx="10972800" cy="0"/>
          </a:xfrm>
          <a:prstGeom prst="line">
            <a:avLst/>
          </a:prstGeom>
          <a:noFill/>
          <a:ln w="12700">
            <a:solidFill>
              <a:srgbClr val="C9D8EA"/>
            </a:solidFill>
            <a:prstDash val="solid"/>
          </a:ln>
        </p:spPr>
      </p:sp>
      <p:sp>
        <p:nvSpPr>
          <p:cNvPr id="6" name="Text 4"/>
          <p:cNvSpPr/>
          <p:nvPr/>
        </p:nvSpPr>
        <p:spPr>
          <a:xfrm>
            <a:off x="594360" y="6473952"/>
            <a:ext cx="5120640" cy="182880"/>
          </a:xfrm>
          <a:prstGeom prst="rect">
            <a:avLst/>
          </a:prstGeom>
          <a:noFill/>
        </p:spPr>
        <p:txBody>
          <a:bodyPr wrap="square" lIns="0" tIns="0" rIns="0" bIns="0" rtlCol="0" anchor="ctr"/>
          <a:lstStyle/>
          <a:p>
            <a:pPr marL="0" indent="0">
              <a:buNone/>
            </a:pPr>
            <a:r>
              <a:rPr lang="en-US" sz="750" dirty="0">
                <a:solidFill>
                  <a:srgbClr val="708090"/>
                </a:solidFill>
              </a:rPr>
              <a:t>BIY7121 Minería de Datos | Power BI + CRISP-DM</a:t>
            </a:r>
            <a:endParaRPr lang="en-US" sz="750" dirty="0"/>
          </a:p>
        </p:txBody>
      </p:sp>
      <p:sp>
        <p:nvSpPr>
          <p:cNvPr id="7" name="Text 5"/>
          <p:cNvSpPr/>
          <p:nvPr/>
        </p:nvSpPr>
        <p:spPr>
          <a:xfrm>
            <a:off x="11064240" y="6446520"/>
            <a:ext cx="502920" cy="228600"/>
          </a:xfrm>
          <a:prstGeom prst="rect">
            <a:avLst/>
          </a:prstGeom>
          <a:noFill/>
        </p:spPr>
        <p:txBody>
          <a:bodyPr wrap="square" lIns="0" tIns="0" rIns="0" bIns="0" rtlCol="0" anchor="ctr"/>
          <a:lstStyle/>
          <a:p>
            <a:pPr marL="0" indent="0" algn="r">
              <a:buNone/>
            </a:pPr>
            <a:r>
              <a:rPr lang="en-US" sz="850" dirty="0">
                <a:solidFill>
                  <a:srgbClr val="708090"/>
                </a:solidFill>
              </a:rPr>
              <a:t>05</a:t>
            </a:r>
            <a:endParaRPr lang="en-US" sz="850" dirty="0"/>
          </a:p>
        </p:txBody>
      </p:sp>
      <p:sp>
        <p:nvSpPr>
          <p:cNvPr id="8" name="Shape 6"/>
          <p:cNvSpPr/>
          <p:nvPr/>
        </p:nvSpPr>
        <p:spPr>
          <a:xfrm>
            <a:off x="685800" y="1325880"/>
            <a:ext cx="3520440" cy="1234440"/>
          </a:xfrm>
          <a:prstGeom prst="roundRect">
            <a:avLst>
              <a:gd name="adj" fmla="val 5926"/>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9" name="Shape 7"/>
          <p:cNvSpPr/>
          <p:nvPr/>
        </p:nvSpPr>
        <p:spPr>
          <a:xfrm>
            <a:off x="685800" y="1325880"/>
            <a:ext cx="82296" cy="1234440"/>
          </a:xfrm>
          <a:prstGeom prst="rect">
            <a:avLst/>
          </a:prstGeom>
          <a:solidFill>
            <a:srgbClr val="0B5CAD"/>
          </a:solidFill>
          <a:ln w="12700">
            <a:solidFill>
              <a:srgbClr val="0B5CAD"/>
            </a:solidFill>
            <a:prstDash val="solid"/>
          </a:ln>
        </p:spPr>
      </p:sp>
      <p:sp>
        <p:nvSpPr>
          <p:cNvPr id="10" name="Text 8"/>
          <p:cNvSpPr/>
          <p:nvPr/>
        </p:nvSpPr>
        <p:spPr>
          <a:xfrm>
            <a:off x="850392" y="1463040"/>
            <a:ext cx="3227832" cy="201168"/>
          </a:xfrm>
          <a:prstGeom prst="rect">
            <a:avLst/>
          </a:prstGeom>
          <a:noFill/>
        </p:spPr>
        <p:txBody>
          <a:bodyPr wrap="square" lIns="0" tIns="0" rIns="0" bIns="0" rtlCol="0" anchor="ctr"/>
          <a:lstStyle/>
          <a:p>
            <a:pPr marL="0" indent="0">
              <a:buNone/>
            </a:pPr>
            <a:r>
              <a:rPr lang="en-US" sz="1050" b="1" dirty="0">
                <a:solidFill>
                  <a:srgbClr val="071A3D"/>
                </a:solidFill>
              </a:rPr>
              <a:t>Clasificación</a:t>
            </a:r>
            <a:endParaRPr lang="en-US" sz="1050" dirty="0"/>
          </a:p>
        </p:txBody>
      </p:sp>
      <p:sp>
        <p:nvSpPr>
          <p:cNvPr id="11" name="Text 9"/>
          <p:cNvSpPr/>
          <p:nvPr/>
        </p:nvSpPr>
        <p:spPr>
          <a:xfrm>
            <a:off x="850392" y="1764792"/>
            <a:ext cx="3227832" cy="667512"/>
          </a:xfrm>
          <a:prstGeom prst="rect">
            <a:avLst/>
          </a:prstGeom>
          <a:noFill/>
        </p:spPr>
        <p:txBody>
          <a:bodyPr wrap="square" lIns="127" tIns="127" rIns="127" bIns="127" rtlCol="0" anchor="ctr">
            <a:normAutofit/>
          </a:bodyPr>
          <a:lstStyle/>
          <a:p>
            <a:pPr marL="0" indent="0">
              <a:buNone/>
            </a:pPr>
            <a:r>
              <a:rPr lang="en-US" sz="820" dirty="0">
                <a:solidFill>
                  <a:srgbClr val="111827"/>
                </a:solidFill>
              </a:rPr>
              <a:t>Modelos: Base, Naive Bayes, Árbol de Decisión y SVM.</a:t>
            </a:r>
            <a:endParaRPr lang="en-US" sz="820" dirty="0"/>
          </a:p>
          <a:p>
            <a:pPr marL="0" indent="0">
              <a:buNone/>
            </a:pPr>
            <a:r>
              <a:rPr lang="en-US" sz="820" dirty="0">
                <a:solidFill>
                  <a:srgbClr val="111827"/>
                </a:solidFill>
              </a:rPr>
              <a:t>Objetivo: predecir RainTomorrow.</a:t>
            </a:r>
            <a:endParaRPr lang="en-US" sz="820" dirty="0"/>
          </a:p>
        </p:txBody>
      </p:sp>
      <p:sp>
        <p:nvSpPr>
          <p:cNvPr id="12" name="Shape 10"/>
          <p:cNvSpPr/>
          <p:nvPr/>
        </p:nvSpPr>
        <p:spPr>
          <a:xfrm>
            <a:off x="4526280" y="1325880"/>
            <a:ext cx="3520440" cy="1234440"/>
          </a:xfrm>
          <a:prstGeom prst="roundRect">
            <a:avLst>
              <a:gd name="adj" fmla="val 5926"/>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13" name="Shape 11"/>
          <p:cNvSpPr/>
          <p:nvPr/>
        </p:nvSpPr>
        <p:spPr>
          <a:xfrm>
            <a:off x="4526280" y="1325880"/>
            <a:ext cx="82296" cy="1234440"/>
          </a:xfrm>
          <a:prstGeom prst="rect">
            <a:avLst/>
          </a:prstGeom>
          <a:solidFill>
            <a:srgbClr val="2A9D8F"/>
          </a:solidFill>
          <a:ln w="12700">
            <a:solidFill>
              <a:srgbClr val="2A9D8F"/>
            </a:solidFill>
            <a:prstDash val="solid"/>
          </a:ln>
        </p:spPr>
      </p:sp>
      <p:sp>
        <p:nvSpPr>
          <p:cNvPr id="14" name="Text 12"/>
          <p:cNvSpPr/>
          <p:nvPr/>
        </p:nvSpPr>
        <p:spPr>
          <a:xfrm>
            <a:off x="4690872" y="1463040"/>
            <a:ext cx="3227832" cy="201168"/>
          </a:xfrm>
          <a:prstGeom prst="rect">
            <a:avLst/>
          </a:prstGeom>
          <a:noFill/>
        </p:spPr>
        <p:txBody>
          <a:bodyPr wrap="square" lIns="0" tIns="0" rIns="0" bIns="0" rtlCol="0" anchor="ctr"/>
          <a:lstStyle/>
          <a:p>
            <a:pPr marL="0" indent="0">
              <a:buNone/>
            </a:pPr>
            <a:r>
              <a:rPr lang="en-US" sz="1050" b="1" dirty="0">
                <a:solidFill>
                  <a:srgbClr val="071A3D"/>
                </a:solidFill>
              </a:rPr>
              <a:t>Regresión</a:t>
            </a:r>
            <a:endParaRPr lang="en-US" sz="1050" dirty="0"/>
          </a:p>
        </p:txBody>
      </p:sp>
      <p:sp>
        <p:nvSpPr>
          <p:cNvPr id="15" name="Text 13"/>
          <p:cNvSpPr/>
          <p:nvPr/>
        </p:nvSpPr>
        <p:spPr>
          <a:xfrm>
            <a:off x="4690872" y="1764792"/>
            <a:ext cx="3227832" cy="667512"/>
          </a:xfrm>
          <a:prstGeom prst="rect">
            <a:avLst/>
          </a:prstGeom>
          <a:noFill/>
        </p:spPr>
        <p:txBody>
          <a:bodyPr wrap="square" lIns="127" tIns="127" rIns="127" bIns="127" rtlCol="0" anchor="ctr">
            <a:normAutofit/>
          </a:bodyPr>
          <a:lstStyle/>
          <a:p>
            <a:pPr marL="0" indent="0">
              <a:buNone/>
            </a:pPr>
            <a:r>
              <a:rPr lang="en-US" sz="820" dirty="0">
                <a:solidFill>
                  <a:srgbClr val="111827"/>
                </a:solidFill>
              </a:rPr>
              <a:t>Modelo: Regresión Lineal.</a:t>
            </a:r>
            <a:endParaRPr lang="en-US" sz="820" dirty="0"/>
          </a:p>
          <a:p>
            <a:pPr marL="0" indent="0">
              <a:buNone/>
            </a:pPr>
            <a:r>
              <a:rPr lang="en-US" sz="820" dirty="0">
                <a:solidFill>
                  <a:srgbClr val="111827"/>
                </a:solidFill>
              </a:rPr>
              <a:t>Objetivo: estimar RISK_MM en milímetros.</a:t>
            </a:r>
            <a:endParaRPr lang="en-US" sz="820" dirty="0"/>
          </a:p>
        </p:txBody>
      </p:sp>
      <p:sp>
        <p:nvSpPr>
          <p:cNvPr id="16" name="Shape 14"/>
          <p:cNvSpPr/>
          <p:nvPr/>
        </p:nvSpPr>
        <p:spPr>
          <a:xfrm>
            <a:off x="8366760" y="1325880"/>
            <a:ext cx="3520440" cy="1234440"/>
          </a:xfrm>
          <a:prstGeom prst="roundRect">
            <a:avLst>
              <a:gd name="adj" fmla="val 5926"/>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17" name="Shape 15"/>
          <p:cNvSpPr/>
          <p:nvPr/>
        </p:nvSpPr>
        <p:spPr>
          <a:xfrm>
            <a:off x="8366760" y="1325880"/>
            <a:ext cx="82296" cy="1234440"/>
          </a:xfrm>
          <a:prstGeom prst="rect">
            <a:avLst/>
          </a:prstGeom>
          <a:solidFill>
            <a:srgbClr val="F4A261"/>
          </a:solidFill>
          <a:ln w="12700">
            <a:solidFill>
              <a:srgbClr val="F4A261"/>
            </a:solidFill>
            <a:prstDash val="solid"/>
          </a:ln>
        </p:spPr>
      </p:sp>
      <p:sp>
        <p:nvSpPr>
          <p:cNvPr id="18" name="Text 16"/>
          <p:cNvSpPr/>
          <p:nvPr/>
        </p:nvSpPr>
        <p:spPr>
          <a:xfrm>
            <a:off x="8531352" y="1463040"/>
            <a:ext cx="3227832" cy="201168"/>
          </a:xfrm>
          <a:prstGeom prst="rect">
            <a:avLst/>
          </a:prstGeom>
          <a:noFill/>
        </p:spPr>
        <p:txBody>
          <a:bodyPr wrap="square" lIns="0" tIns="0" rIns="0" bIns="0" rtlCol="0" anchor="ctr"/>
          <a:lstStyle/>
          <a:p>
            <a:pPr marL="0" indent="0">
              <a:buNone/>
            </a:pPr>
            <a:r>
              <a:rPr lang="en-US" sz="1050" b="1" dirty="0">
                <a:solidFill>
                  <a:srgbClr val="071A3D"/>
                </a:solidFill>
              </a:rPr>
              <a:t>Clustering</a:t>
            </a:r>
            <a:endParaRPr lang="en-US" sz="1050" dirty="0"/>
          </a:p>
        </p:txBody>
      </p:sp>
      <p:sp>
        <p:nvSpPr>
          <p:cNvPr id="19" name="Text 17"/>
          <p:cNvSpPr/>
          <p:nvPr/>
        </p:nvSpPr>
        <p:spPr>
          <a:xfrm>
            <a:off x="8531352" y="1764792"/>
            <a:ext cx="3227832" cy="667512"/>
          </a:xfrm>
          <a:prstGeom prst="rect">
            <a:avLst/>
          </a:prstGeom>
          <a:noFill/>
        </p:spPr>
        <p:txBody>
          <a:bodyPr wrap="square" lIns="127" tIns="127" rIns="127" bIns="127" rtlCol="0" anchor="ctr">
            <a:normAutofit/>
          </a:bodyPr>
          <a:lstStyle/>
          <a:p>
            <a:pPr marL="0" indent="0">
              <a:buNone/>
            </a:pPr>
            <a:r>
              <a:rPr lang="en-US" sz="820" dirty="0">
                <a:solidFill>
                  <a:srgbClr val="111827"/>
                </a:solidFill>
              </a:rPr>
              <a:t>Modelo: K-Means con K = 3.</a:t>
            </a:r>
            <a:endParaRPr lang="en-US" sz="820" dirty="0"/>
          </a:p>
          <a:p>
            <a:pPr marL="0" indent="0">
              <a:buNone/>
            </a:pPr>
            <a:r>
              <a:rPr lang="en-US" sz="820" dirty="0">
                <a:solidFill>
                  <a:srgbClr val="111827"/>
                </a:solidFill>
              </a:rPr>
              <a:t>Objetivo: segmentar perfiles climáticos.</a:t>
            </a:r>
            <a:endParaRPr lang="en-US" sz="820" dirty="0"/>
          </a:p>
        </p:txBody>
      </p:sp>
      <p:sp>
        <p:nvSpPr>
          <p:cNvPr id="20" name="Shape 18"/>
          <p:cNvSpPr/>
          <p:nvPr/>
        </p:nvSpPr>
        <p:spPr>
          <a:xfrm>
            <a:off x="685800" y="2926080"/>
            <a:ext cx="10972800" cy="2560320"/>
          </a:xfrm>
          <a:prstGeom prst="roundRect">
            <a:avLst>
              <a:gd name="adj" fmla="val 3214"/>
            </a:avLst>
          </a:prstGeom>
          <a:solidFill>
            <a:srgbClr val="FFFFFF"/>
          </a:solidFill>
          <a:ln w="12700">
            <a:solidFill>
              <a:srgbClr val="D5E4F4"/>
            </a:solidFill>
            <a:prstDash val="solid"/>
          </a:ln>
          <a:effectLst>
            <a:outerShdw blurRad="12700" dist="50800" dir="2700000" algn="bl" rotWithShape="0">
              <a:srgbClr val="000000">
                <a:alpha val="10000"/>
              </a:srgbClr>
            </a:outerShdw>
          </a:effectLst>
        </p:spPr>
      </p:sp>
      <p:sp>
        <p:nvSpPr>
          <p:cNvPr id="21" name="Text 19"/>
          <p:cNvSpPr/>
          <p:nvPr/>
        </p:nvSpPr>
        <p:spPr>
          <a:xfrm>
            <a:off x="960120" y="3154680"/>
            <a:ext cx="4754880" cy="274320"/>
          </a:xfrm>
          <a:prstGeom prst="rect">
            <a:avLst/>
          </a:prstGeom>
          <a:noFill/>
        </p:spPr>
        <p:txBody>
          <a:bodyPr wrap="square" lIns="0" tIns="0" rIns="0" bIns="0" rtlCol="0" anchor="ctr"/>
          <a:lstStyle/>
          <a:p>
            <a:pPr marL="0" indent="0">
              <a:buNone/>
            </a:pPr>
            <a:r>
              <a:rPr lang="en-US" sz="1500" b="1" dirty="0">
                <a:solidFill>
                  <a:srgbClr val="071A3D"/>
                </a:solidFill>
              </a:rPr>
              <a:t>Variables consideradas por el Árbol de Decisión</a:t>
            </a:r>
            <a:endParaRPr lang="en-US" sz="1500" dirty="0"/>
          </a:p>
        </p:txBody>
      </p:sp>
      <p:sp>
        <p:nvSpPr>
          <p:cNvPr id="22" name="Shape 20"/>
          <p:cNvSpPr/>
          <p:nvPr/>
        </p:nvSpPr>
        <p:spPr>
          <a:xfrm>
            <a:off x="960120" y="3611880"/>
            <a:ext cx="1600200" cy="292608"/>
          </a:xfrm>
          <a:prstGeom prst="roundRect">
            <a:avLst>
              <a:gd name="adj" fmla="val 21875"/>
            </a:avLst>
          </a:prstGeom>
          <a:solidFill>
            <a:srgbClr val="EAF5FF"/>
          </a:solidFill>
          <a:ln w="12700">
            <a:solidFill>
              <a:srgbClr val="EAF5FF"/>
            </a:solidFill>
            <a:prstDash val="solid"/>
          </a:ln>
        </p:spPr>
      </p:sp>
      <p:sp>
        <p:nvSpPr>
          <p:cNvPr id="23" name="Text 21"/>
          <p:cNvSpPr/>
          <p:nvPr/>
        </p:nvSpPr>
        <p:spPr>
          <a:xfrm>
            <a:off x="1005840" y="3675888"/>
            <a:ext cx="1508760" cy="146304"/>
          </a:xfrm>
          <a:prstGeom prst="rect">
            <a:avLst/>
          </a:prstGeom>
          <a:noFill/>
        </p:spPr>
        <p:txBody>
          <a:bodyPr wrap="square" lIns="0" tIns="0" rIns="0" bIns="0" rtlCol="0" anchor="ctr">
            <a:normAutofit/>
          </a:bodyPr>
          <a:lstStyle/>
          <a:p>
            <a:pPr marL="0" indent="0" algn="ctr">
              <a:buNone/>
            </a:pPr>
            <a:r>
              <a:rPr lang="en-US" sz="750" b="1" dirty="0">
                <a:solidFill>
                  <a:srgbClr val="0B5CAD"/>
                </a:solidFill>
              </a:rPr>
              <a:t>Humedad: Humidity3pm / Humidity9am</a:t>
            </a:r>
            <a:endParaRPr lang="en-US" sz="750" dirty="0"/>
          </a:p>
        </p:txBody>
      </p:sp>
      <p:sp>
        <p:nvSpPr>
          <p:cNvPr id="24" name="Shape 22"/>
          <p:cNvSpPr/>
          <p:nvPr/>
        </p:nvSpPr>
        <p:spPr>
          <a:xfrm>
            <a:off x="2724912" y="3611880"/>
            <a:ext cx="1600200" cy="292608"/>
          </a:xfrm>
          <a:prstGeom prst="roundRect">
            <a:avLst>
              <a:gd name="adj" fmla="val 21875"/>
            </a:avLst>
          </a:prstGeom>
          <a:solidFill>
            <a:srgbClr val="E7FAFF"/>
          </a:solidFill>
          <a:ln w="12700">
            <a:solidFill>
              <a:srgbClr val="E7FAFF"/>
            </a:solidFill>
            <a:prstDash val="solid"/>
          </a:ln>
        </p:spPr>
      </p:sp>
      <p:sp>
        <p:nvSpPr>
          <p:cNvPr id="25" name="Text 23"/>
          <p:cNvSpPr/>
          <p:nvPr/>
        </p:nvSpPr>
        <p:spPr>
          <a:xfrm>
            <a:off x="2770632" y="3675888"/>
            <a:ext cx="1508760" cy="146304"/>
          </a:xfrm>
          <a:prstGeom prst="rect">
            <a:avLst/>
          </a:prstGeom>
          <a:noFill/>
        </p:spPr>
        <p:txBody>
          <a:bodyPr wrap="square" lIns="0" tIns="0" rIns="0" bIns="0" rtlCol="0" anchor="ctr">
            <a:normAutofit/>
          </a:bodyPr>
          <a:lstStyle/>
          <a:p>
            <a:pPr marL="0" indent="0" algn="ctr">
              <a:buNone/>
            </a:pPr>
            <a:r>
              <a:rPr lang="en-US" sz="750" b="1" dirty="0">
                <a:solidFill>
                  <a:srgbClr val="087E96"/>
                </a:solidFill>
              </a:rPr>
              <a:t>Lluvia previa: Rainfall / RainToday</a:t>
            </a:r>
            <a:endParaRPr lang="en-US" sz="750" dirty="0"/>
          </a:p>
        </p:txBody>
      </p:sp>
      <p:sp>
        <p:nvSpPr>
          <p:cNvPr id="26" name="Shape 24"/>
          <p:cNvSpPr/>
          <p:nvPr/>
        </p:nvSpPr>
        <p:spPr>
          <a:xfrm>
            <a:off x="4489704" y="3611880"/>
            <a:ext cx="1600200" cy="292608"/>
          </a:xfrm>
          <a:prstGeom prst="roundRect">
            <a:avLst>
              <a:gd name="adj" fmla="val 21875"/>
            </a:avLst>
          </a:prstGeom>
          <a:solidFill>
            <a:srgbClr val="EAF5FF"/>
          </a:solidFill>
          <a:ln w="12700">
            <a:solidFill>
              <a:srgbClr val="EAF5FF"/>
            </a:solidFill>
            <a:prstDash val="solid"/>
          </a:ln>
        </p:spPr>
      </p:sp>
      <p:sp>
        <p:nvSpPr>
          <p:cNvPr id="27" name="Text 25"/>
          <p:cNvSpPr/>
          <p:nvPr/>
        </p:nvSpPr>
        <p:spPr>
          <a:xfrm>
            <a:off x="4535424" y="3675888"/>
            <a:ext cx="1508760" cy="146304"/>
          </a:xfrm>
          <a:prstGeom prst="rect">
            <a:avLst/>
          </a:prstGeom>
          <a:noFill/>
        </p:spPr>
        <p:txBody>
          <a:bodyPr wrap="square" lIns="0" tIns="0" rIns="0" bIns="0" rtlCol="0" anchor="ctr">
            <a:normAutofit/>
          </a:bodyPr>
          <a:lstStyle/>
          <a:p>
            <a:pPr marL="0" indent="0" algn="ctr">
              <a:buNone/>
            </a:pPr>
            <a:r>
              <a:rPr lang="en-US" sz="750" b="1" dirty="0">
                <a:solidFill>
                  <a:srgbClr val="0B5CAD"/>
                </a:solidFill>
              </a:rPr>
              <a:t>Presión: Pressure3pm</a:t>
            </a:r>
            <a:endParaRPr lang="en-US" sz="750" dirty="0"/>
          </a:p>
        </p:txBody>
      </p:sp>
      <p:sp>
        <p:nvSpPr>
          <p:cNvPr id="28" name="Shape 26"/>
          <p:cNvSpPr/>
          <p:nvPr/>
        </p:nvSpPr>
        <p:spPr>
          <a:xfrm>
            <a:off x="6254496" y="3611880"/>
            <a:ext cx="2697480" cy="292608"/>
          </a:xfrm>
          <a:prstGeom prst="roundRect">
            <a:avLst>
              <a:gd name="adj" fmla="val 21875"/>
            </a:avLst>
          </a:prstGeom>
          <a:solidFill>
            <a:srgbClr val="E7FAFF"/>
          </a:solidFill>
          <a:ln w="12700">
            <a:solidFill>
              <a:srgbClr val="E7FAFF"/>
            </a:solidFill>
            <a:prstDash val="solid"/>
          </a:ln>
        </p:spPr>
      </p:sp>
      <p:sp>
        <p:nvSpPr>
          <p:cNvPr id="29" name="Text 27"/>
          <p:cNvSpPr/>
          <p:nvPr/>
        </p:nvSpPr>
        <p:spPr>
          <a:xfrm>
            <a:off x="6300216" y="3675888"/>
            <a:ext cx="2606040" cy="146304"/>
          </a:xfrm>
          <a:prstGeom prst="rect">
            <a:avLst/>
          </a:prstGeom>
          <a:noFill/>
        </p:spPr>
        <p:txBody>
          <a:bodyPr wrap="square" lIns="0" tIns="0" rIns="0" bIns="0" rtlCol="0" anchor="ctr">
            <a:normAutofit/>
          </a:bodyPr>
          <a:lstStyle/>
          <a:p>
            <a:pPr marL="0" indent="0" algn="ctr">
              <a:buNone/>
            </a:pPr>
            <a:r>
              <a:rPr lang="en-US" sz="750" b="1" dirty="0">
                <a:solidFill>
                  <a:srgbClr val="087E96"/>
                </a:solidFill>
              </a:rPr>
              <a:t>Viento: WindGustSpeed / WindSpeed9am / WindSpeed3pm</a:t>
            </a:r>
            <a:endParaRPr lang="en-US" sz="750" dirty="0"/>
          </a:p>
        </p:txBody>
      </p:sp>
      <p:sp>
        <p:nvSpPr>
          <p:cNvPr id="30" name="Shape 28"/>
          <p:cNvSpPr/>
          <p:nvPr/>
        </p:nvSpPr>
        <p:spPr>
          <a:xfrm>
            <a:off x="9116568" y="3611880"/>
            <a:ext cx="1600200" cy="292608"/>
          </a:xfrm>
          <a:prstGeom prst="roundRect">
            <a:avLst>
              <a:gd name="adj" fmla="val 21875"/>
            </a:avLst>
          </a:prstGeom>
          <a:solidFill>
            <a:srgbClr val="EAF5FF"/>
          </a:solidFill>
          <a:ln w="12700">
            <a:solidFill>
              <a:srgbClr val="EAF5FF"/>
            </a:solidFill>
            <a:prstDash val="solid"/>
          </a:ln>
        </p:spPr>
      </p:sp>
      <p:sp>
        <p:nvSpPr>
          <p:cNvPr id="31" name="Text 29"/>
          <p:cNvSpPr/>
          <p:nvPr/>
        </p:nvSpPr>
        <p:spPr>
          <a:xfrm>
            <a:off x="9162288" y="3675888"/>
            <a:ext cx="1508760" cy="146304"/>
          </a:xfrm>
          <a:prstGeom prst="rect">
            <a:avLst/>
          </a:prstGeom>
          <a:noFill/>
        </p:spPr>
        <p:txBody>
          <a:bodyPr wrap="square" lIns="0" tIns="0" rIns="0" bIns="0" rtlCol="0" anchor="ctr">
            <a:normAutofit/>
          </a:bodyPr>
          <a:lstStyle/>
          <a:p>
            <a:pPr marL="0" indent="0" algn="ctr">
              <a:buNone/>
            </a:pPr>
            <a:r>
              <a:rPr lang="en-US" sz="750" b="1" dirty="0">
                <a:solidFill>
                  <a:srgbClr val="0B5CAD"/>
                </a:solidFill>
              </a:rPr>
              <a:t>Temperatura: MinTemp / MaxTemp</a:t>
            </a:r>
            <a:endParaRPr lang="en-US" sz="750" dirty="0"/>
          </a:p>
        </p:txBody>
      </p:sp>
      <p:sp>
        <p:nvSpPr>
          <p:cNvPr id="32" name="Shape 30"/>
          <p:cNvSpPr/>
          <p:nvPr/>
        </p:nvSpPr>
        <p:spPr>
          <a:xfrm>
            <a:off x="960120" y="4123944"/>
            <a:ext cx="1600200" cy="292608"/>
          </a:xfrm>
          <a:prstGeom prst="roundRect">
            <a:avLst>
              <a:gd name="adj" fmla="val 21875"/>
            </a:avLst>
          </a:prstGeom>
          <a:solidFill>
            <a:srgbClr val="E7FAFF"/>
          </a:solidFill>
          <a:ln w="12700">
            <a:solidFill>
              <a:srgbClr val="E7FAFF"/>
            </a:solidFill>
            <a:prstDash val="solid"/>
          </a:ln>
        </p:spPr>
      </p:sp>
      <p:sp>
        <p:nvSpPr>
          <p:cNvPr id="33" name="Text 31"/>
          <p:cNvSpPr/>
          <p:nvPr/>
        </p:nvSpPr>
        <p:spPr>
          <a:xfrm>
            <a:off x="1005840" y="4187952"/>
            <a:ext cx="1508760" cy="146304"/>
          </a:xfrm>
          <a:prstGeom prst="rect">
            <a:avLst/>
          </a:prstGeom>
          <a:noFill/>
        </p:spPr>
        <p:txBody>
          <a:bodyPr wrap="square" lIns="0" tIns="0" rIns="0" bIns="0" rtlCol="0" anchor="ctr">
            <a:normAutofit/>
          </a:bodyPr>
          <a:lstStyle/>
          <a:p>
            <a:pPr marL="0" indent="0" algn="ctr">
              <a:buNone/>
            </a:pPr>
            <a:r>
              <a:rPr lang="en-US" sz="750" b="1" dirty="0">
                <a:solidFill>
                  <a:srgbClr val="087E96"/>
                </a:solidFill>
              </a:rPr>
              <a:t>Ubicación: Location</a:t>
            </a:r>
            <a:endParaRPr lang="en-US" sz="750" dirty="0"/>
          </a:p>
        </p:txBody>
      </p:sp>
      <p:sp>
        <p:nvSpPr>
          <p:cNvPr id="34" name="Shape 32"/>
          <p:cNvSpPr/>
          <p:nvPr/>
        </p:nvSpPr>
        <p:spPr>
          <a:xfrm>
            <a:off x="2724912" y="4123944"/>
            <a:ext cx="1920240" cy="292608"/>
          </a:xfrm>
          <a:prstGeom prst="roundRect">
            <a:avLst>
              <a:gd name="adj" fmla="val 21875"/>
            </a:avLst>
          </a:prstGeom>
          <a:solidFill>
            <a:srgbClr val="EAF5FF"/>
          </a:solidFill>
          <a:ln w="12700">
            <a:solidFill>
              <a:srgbClr val="EAF5FF"/>
            </a:solidFill>
            <a:prstDash val="solid"/>
          </a:ln>
        </p:spPr>
      </p:sp>
      <p:sp>
        <p:nvSpPr>
          <p:cNvPr id="35" name="Text 33"/>
          <p:cNvSpPr/>
          <p:nvPr/>
        </p:nvSpPr>
        <p:spPr>
          <a:xfrm>
            <a:off x="2770632" y="4187952"/>
            <a:ext cx="1828800" cy="146304"/>
          </a:xfrm>
          <a:prstGeom prst="rect">
            <a:avLst/>
          </a:prstGeom>
          <a:noFill/>
        </p:spPr>
        <p:txBody>
          <a:bodyPr wrap="square" lIns="0" tIns="0" rIns="0" bIns="0" rtlCol="0" anchor="ctr">
            <a:normAutofit/>
          </a:bodyPr>
          <a:lstStyle/>
          <a:p>
            <a:pPr marL="0" indent="0" algn="ctr">
              <a:buNone/>
            </a:pPr>
            <a:r>
              <a:rPr lang="en-US" sz="750" b="1" dirty="0">
                <a:solidFill>
                  <a:srgbClr val="0B5CAD"/>
                </a:solidFill>
              </a:rPr>
              <a:t>Estacionalidad: Month_sin / Month_cos</a:t>
            </a:r>
            <a:endParaRPr lang="en-US" sz="750" dirty="0"/>
          </a:p>
        </p:txBody>
      </p:sp>
      <p:sp>
        <p:nvSpPr>
          <p:cNvPr id="36" name="Shape 34"/>
          <p:cNvSpPr/>
          <p:nvPr/>
        </p:nvSpPr>
        <p:spPr>
          <a:xfrm>
            <a:off x="6629400" y="4224528"/>
            <a:ext cx="4480560" cy="777240"/>
          </a:xfrm>
          <a:prstGeom prst="roundRect">
            <a:avLst>
              <a:gd name="adj" fmla="val 9412"/>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37" name="Shape 35"/>
          <p:cNvSpPr/>
          <p:nvPr/>
        </p:nvSpPr>
        <p:spPr>
          <a:xfrm>
            <a:off x="6629400" y="4224528"/>
            <a:ext cx="82296" cy="777240"/>
          </a:xfrm>
          <a:prstGeom prst="rect">
            <a:avLst/>
          </a:prstGeom>
          <a:solidFill>
            <a:srgbClr val="19A7CE"/>
          </a:solidFill>
          <a:ln w="12700">
            <a:solidFill>
              <a:srgbClr val="19A7CE"/>
            </a:solidFill>
            <a:prstDash val="solid"/>
          </a:ln>
        </p:spPr>
      </p:sp>
      <p:sp>
        <p:nvSpPr>
          <p:cNvPr id="38" name="Text 36"/>
          <p:cNvSpPr/>
          <p:nvPr/>
        </p:nvSpPr>
        <p:spPr>
          <a:xfrm>
            <a:off x="6793992" y="4361688"/>
            <a:ext cx="4187952" cy="201168"/>
          </a:xfrm>
          <a:prstGeom prst="rect">
            <a:avLst/>
          </a:prstGeom>
          <a:noFill/>
        </p:spPr>
        <p:txBody>
          <a:bodyPr wrap="square" lIns="0" tIns="0" rIns="0" bIns="0" rtlCol="0" anchor="ctr"/>
          <a:lstStyle/>
          <a:p>
            <a:pPr marL="0" indent="0">
              <a:buNone/>
            </a:pPr>
            <a:r>
              <a:rPr lang="en-US" sz="1050" b="1" dirty="0">
                <a:solidFill>
                  <a:srgbClr val="071A3D"/>
                </a:solidFill>
              </a:rPr>
              <a:t>Lectura del modelo</a:t>
            </a:r>
            <a:endParaRPr lang="en-US" sz="1050" dirty="0"/>
          </a:p>
        </p:txBody>
      </p:sp>
      <p:sp>
        <p:nvSpPr>
          <p:cNvPr id="39" name="Text 37"/>
          <p:cNvSpPr/>
          <p:nvPr/>
        </p:nvSpPr>
        <p:spPr>
          <a:xfrm>
            <a:off x="6793992" y="4663440"/>
            <a:ext cx="4187952" cy="210312"/>
          </a:xfrm>
          <a:prstGeom prst="rect">
            <a:avLst/>
          </a:prstGeom>
          <a:noFill/>
        </p:spPr>
        <p:txBody>
          <a:bodyPr wrap="square" lIns="127" tIns="127" rIns="127" bIns="127" rtlCol="0" anchor="ctr">
            <a:normAutofit/>
          </a:bodyPr>
          <a:lstStyle/>
          <a:p>
            <a:pPr marL="0" indent="0">
              <a:buNone/>
            </a:pPr>
            <a:r>
              <a:rPr lang="en-US" sz="820" dirty="0">
                <a:solidFill>
                  <a:srgbClr val="111827"/>
                </a:solidFill>
              </a:rPr>
              <a:t>Las variables combinan condiciones del día actual, contexto territorial y estacionalidad. Esto permite que el árbol represente reglas climáticas interpretables.</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F8FBFF">
                <a:alpha val="0"/>
              </a:srgbClr>
            </a:solidFill>
            <a:prstDash val="solid"/>
          </a:ln>
        </p:spPr>
      </p:sp>
      <p:sp>
        <p:nvSpPr>
          <p:cNvPr id="3" name="Text 1"/>
          <p:cNvSpPr/>
          <p:nvPr/>
        </p:nvSpPr>
        <p:spPr>
          <a:xfrm>
            <a:off x="594360" y="256032"/>
            <a:ext cx="9601200" cy="347472"/>
          </a:xfrm>
          <a:prstGeom prst="rect">
            <a:avLst/>
          </a:prstGeom>
          <a:noFill/>
        </p:spPr>
        <p:txBody>
          <a:bodyPr wrap="square" lIns="0" tIns="0" rIns="0" bIns="0" rtlCol="0" anchor="ctr"/>
          <a:lstStyle/>
          <a:p>
            <a:pPr marL="0" indent="0">
              <a:buNone/>
            </a:pPr>
            <a:r>
              <a:rPr lang="en-US" sz="2500" b="1" dirty="0">
                <a:solidFill>
                  <a:srgbClr val="071A3D"/>
                </a:solidFill>
                <a:latin typeface="Arial" panose="020B0604020202020204" pitchFamily="34" charset="0"/>
                <a:ea typeface="Arial" panose="020B0604020202020204" pitchFamily="34" charset="-122"/>
                <a:cs typeface="Arial" panose="020B0604020202020204" pitchFamily="34" charset="-120"/>
              </a:rPr>
              <a:t>Evaluación de clasificación: selección del mejor modelo</a:t>
            </a:r>
            <a:endParaRPr lang="en-US" sz="2500" dirty="0"/>
          </a:p>
        </p:txBody>
      </p:sp>
      <p:sp>
        <p:nvSpPr>
          <p:cNvPr id="4" name="Text 2"/>
          <p:cNvSpPr/>
          <p:nvPr/>
        </p:nvSpPr>
        <p:spPr>
          <a:xfrm>
            <a:off x="603504" y="713232"/>
            <a:ext cx="8961120" cy="237744"/>
          </a:xfrm>
          <a:prstGeom prst="rect">
            <a:avLst/>
          </a:prstGeom>
          <a:noFill/>
        </p:spPr>
        <p:txBody>
          <a:bodyPr wrap="square" lIns="0" tIns="0" rIns="0" bIns="0" rtlCol="0" anchor="ctr"/>
          <a:lstStyle/>
          <a:p>
            <a:pPr marL="0" indent="0">
              <a:buNone/>
            </a:pPr>
            <a:r>
              <a:rPr lang="en-US" sz="1050" dirty="0">
                <a:solidFill>
                  <a:srgbClr val="5D6D7E"/>
                </a:solidFill>
                <a:latin typeface="Arial" panose="020B0604020202020204" pitchFamily="34" charset="0"/>
                <a:ea typeface="Arial" panose="020B0604020202020204" pitchFamily="34" charset="-122"/>
                <a:cs typeface="Arial" panose="020B0604020202020204" pitchFamily="34" charset="-120"/>
              </a:rPr>
              <a:t>El Árbol de Decisión logra el mejor equilibrio para detectar días lluviosos</a:t>
            </a:r>
            <a:endParaRPr lang="en-US" sz="1050" dirty="0"/>
          </a:p>
        </p:txBody>
      </p:sp>
      <p:sp>
        <p:nvSpPr>
          <p:cNvPr id="5" name="Shape 3"/>
          <p:cNvSpPr/>
          <p:nvPr/>
        </p:nvSpPr>
        <p:spPr>
          <a:xfrm>
            <a:off x="594360" y="1024128"/>
            <a:ext cx="10972800" cy="0"/>
          </a:xfrm>
          <a:prstGeom prst="line">
            <a:avLst/>
          </a:prstGeom>
          <a:noFill/>
          <a:ln w="12700">
            <a:solidFill>
              <a:srgbClr val="C9D8EA"/>
            </a:solidFill>
            <a:prstDash val="solid"/>
          </a:ln>
        </p:spPr>
      </p:sp>
      <p:sp>
        <p:nvSpPr>
          <p:cNvPr id="6" name="Text 4"/>
          <p:cNvSpPr/>
          <p:nvPr/>
        </p:nvSpPr>
        <p:spPr>
          <a:xfrm>
            <a:off x="594360" y="6473952"/>
            <a:ext cx="5120640" cy="182880"/>
          </a:xfrm>
          <a:prstGeom prst="rect">
            <a:avLst/>
          </a:prstGeom>
          <a:noFill/>
        </p:spPr>
        <p:txBody>
          <a:bodyPr wrap="square" lIns="0" tIns="0" rIns="0" bIns="0" rtlCol="0" anchor="ctr"/>
          <a:lstStyle/>
          <a:p>
            <a:pPr marL="0" indent="0">
              <a:buNone/>
            </a:pPr>
            <a:r>
              <a:rPr lang="en-US" sz="750" dirty="0">
                <a:solidFill>
                  <a:srgbClr val="708090"/>
                </a:solidFill>
              </a:rPr>
              <a:t>BIY7121 Minería de Datos | Power BI + CRISP-DM</a:t>
            </a:r>
            <a:endParaRPr lang="en-US" sz="750" dirty="0"/>
          </a:p>
        </p:txBody>
      </p:sp>
      <p:sp>
        <p:nvSpPr>
          <p:cNvPr id="7" name="Text 5"/>
          <p:cNvSpPr/>
          <p:nvPr/>
        </p:nvSpPr>
        <p:spPr>
          <a:xfrm>
            <a:off x="11064240" y="6446520"/>
            <a:ext cx="502920" cy="228600"/>
          </a:xfrm>
          <a:prstGeom prst="rect">
            <a:avLst/>
          </a:prstGeom>
          <a:noFill/>
        </p:spPr>
        <p:txBody>
          <a:bodyPr wrap="square" lIns="0" tIns="0" rIns="0" bIns="0" rtlCol="0" anchor="ctr"/>
          <a:lstStyle/>
          <a:p>
            <a:pPr marL="0" indent="0" algn="r">
              <a:buNone/>
            </a:pPr>
            <a:r>
              <a:rPr lang="en-US" sz="850" dirty="0">
                <a:solidFill>
                  <a:srgbClr val="708090"/>
                </a:solidFill>
              </a:rPr>
              <a:t>06</a:t>
            </a:r>
            <a:endParaRPr lang="en-US" sz="850" dirty="0"/>
          </a:p>
        </p:txBody>
      </p:sp>
      <p:sp>
        <p:nvSpPr>
          <p:cNvPr id="8" name="Shape 6"/>
          <p:cNvSpPr/>
          <p:nvPr/>
        </p:nvSpPr>
        <p:spPr>
          <a:xfrm>
            <a:off x="685800" y="1234440"/>
            <a:ext cx="160020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9" name="Text 7"/>
          <p:cNvSpPr/>
          <p:nvPr/>
        </p:nvSpPr>
        <p:spPr>
          <a:xfrm>
            <a:off x="777240" y="1344168"/>
            <a:ext cx="1417320" cy="228600"/>
          </a:xfrm>
          <a:prstGeom prst="rect">
            <a:avLst/>
          </a:prstGeom>
          <a:noFill/>
        </p:spPr>
        <p:txBody>
          <a:bodyPr wrap="square" lIns="0" tIns="0" rIns="0" bIns="0" rtlCol="0" anchor="ctr"/>
          <a:lstStyle/>
          <a:p>
            <a:pPr marL="0" indent="0" algn="ctr">
              <a:buNone/>
            </a:pPr>
            <a:r>
              <a:rPr lang="en-US" sz="1700" b="1" dirty="0">
                <a:solidFill>
                  <a:srgbClr val="0B5CAD"/>
                </a:solidFill>
              </a:rPr>
              <a:t>77,82%</a:t>
            </a:r>
            <a:endParaRPr lang="en-US" sz="1700" dirty="0"/>
          </a:p>
        </p:txBody>
      </p:sp>
      <p:sp>
        <p:nvSpPr>
          <p:cNvPr id="10" name="Text 8"/>
          <p:cNvSpPr/>
          <p:nvPr/>
        </p:nvSpPr>
        <p:spPr>
          <a:xfrm>
            <a:off x="758952" y="1655064"/>
            <a:ext cx="145389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Accuracy prueba</a:t>
            </a:r>
            <a:endParaRPr lang="en-US" sz="740" dirty="0"/>
          </a:p>
        </p:txBody>
      </p:sp>
      <p:sp>
        <p:nvSpPr>
          <p:cNvPr id="11" name="Shape 9"/>
          <p:cNvSpPr/>
          <p:nvPr/>
        </p:nvSpPr>
        <p:spPr>
          <a:xfrm>
            <a:off x="2514600" y="1234440"/>
            <a:ext cx="160020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12" name="Text 10"/>
          <p:cNvSpPr/>
          <p:nvPr/>
        </p:nvSpPr>
        <p:spPr>
          <a:xfrm>
            <a:off x="2606040" y="1344168"/>
            <a:ext cx="1417320" cy="228600"/>
          </a:xfrm>
          <a:prstGeom prst="rect">
            <a:avLst/>
          </a:prstGeom>
          <a:noFill/>
        </p:spPr>
        <p:txBody>
          <a:bodyPr wrap="square" lIns="0" tIns="0" rIns="0" bIns="0" rtlCol="0" anchor="ctr"/>
          <a:lstStyle/>
          <a:p>
            <a:pPr marL="0" indent="0" algn="ctr">
              <a:buNone/>
            </a:pPr>
            <a:r>
              <a:rPr lang="en-US" sz="1700" b="1" dirty="0">
                <a:solidFill>
                  <a:srgbClr val="0B5CAD"/>
                </a:solidFill>
              </a:rPr>
              <a:t>73,57%</a:t>
            </a:r>
            <a:endParaRPr lang="en-US" sz="1700" dirty="0"/>
          </a:p>
        </p:txBody>
      </p:sp>
      <p:sp>
        <p:nvSpPr>
          <p:cNvPr id="13" name="Text 11"/>
          <p:cNvSpPr/>
          <p:nvPr/>
        </p:nvSpPr>
        <p:spPr>
          <a:xfrm>
            <a:off x="2587752" y="1655064"/>
            <a:ext cx="145389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Recall lluvia</a:t>
            </a:r>
            <a:endParaRPr lang="en-US" sz="740" dirty="0"/>
          </a:p>
        </p:txBody>
      </p:sp>
      <p:sp>
        <p:nvSpPr>
          <p:cNvPr id="14" name="Shape 12"/>
          <p:cNvSpPr/>
          <p:nvPr/>
        </p:nvSpPr>
        <p:spPr>
          <a:xfrm>
            <a:off x="4343400" y="1234440"/>
            <a:ext cx="160020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15" name="Text 13"/>
          <p:cNvSpPr/>
          <p:nvPr/>
        </p:nvSpPr>
        <p:spPr>
          <a:xfrm>
            <a:off x="4434840" y="1344168"/>
            <a:ext cx="1417320" cy="228600"/>
          </a:xfrm>
          <a:prstGeom prst="rect">
            <a:avLst/>
          </a:prstGeom>
          <a:noFill/>
        </p:spPr>
        <p:txBody>
          <a:bodyPr wrap="square" lIns="0" tIns="0" rIns="0" bIns="0" rtlCol="0" anchor="ctr"/>
          <a:lstStyle/>
          <a:p>
            <a:pPr marL="0" indent="0" algn="ctr">
              <a:buNone/>
            </a:pPr>
            <a:r>
              <a:rPr lang="en-US" sz="1700" b="1" dirty="0">
                <a:solidFill>
                  <a:srgbClr val="0B5CAD"/>
                </a:solidFill>
              </a:rPr>
              <a:t>59,79%</a:t>
            </a:r>
            <a:endParaRPr lang="en-US" sz="1700" dirty="0"/>
          </a:p>
        </p:txBody>
      </p:sp>
      <p:sp>
        <p:nvSpPr>
          <p:cNvPr id="16" name="Text 14"/>
          <p:cNvSpPr/>
          <p:nvPr/>
        </p:nvSpPr>
        <p:spPr>
          <a:xfrm>
            <a:off x="4416552" y="1655064"/>
            <a:ext cx="145389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F1 lluvia</a:t>
            </a:r>
            <a:endParaRPr lang="en-US" sz="740" dirty="0"/>
          </a:p>
        </p:txBody>
      </p:sp>
      <p:sp>
        <p:nvSpPr>
          <p:cNvPr id="17" name="Shape 15"/>
          <p:cNvSpPr/>
          <p:nvPr/>
        </p:nvSpPr>
        <p:spPr>
          <a:xfrm>
            <a:off x="6172200" y="1234440"/>
            <a:ext cx="1600200" cy="731520"/>
          </a:xfrm>
          <a:prstGeom prst="roundRect">
            <a:avLst>
              <a:gd name="adj" fmla="val 7500"/>
            </a:avLst>
          </a:prstGeom>
          <a:solidFill>
            <a:srgbClr val="FFFFFF"/>
          </a:solidFill>
          <a:ln w="12700">
            <a:solidFill>
              <a:srgbClr val="D5E1EF"/>
            </a:solidFill>
            <a:prstDash val="solid"/>
          </a:ln>
          <a:effectLst>
            <a:outerShdw blurRad="12700" dist="50800" dir="2700000" algn="bl" rotWithShape="0">
              <a:srgbClr val="000000">
                <a:alpha val="11000"/>
              </a:srgbClr>
            </a:outerShdw>
          </a:effectLst>
        </p:spPr>
      </p:sp>
      <p:sp>
        <p:nvSpPr>
          <p:cNvPr id="18" name="Text 16"/>
          <p:cNvSpPr/>
          <p:nvPr/>
        </p:nvSpPr>
        <p:spPr>
          <a:xfrm>
            <a:off x="6263640" y="1344168"/>
            <a:ext cx="1417320" cy="228600"/>
          </a:xfrm>
          <a:prstGeom prst="rect">
            <a:avLst/>
          </a:prstGeom>
          <a:noFill/>
        </p:spPr>
        <p:txBody>
          <a:bodyPr wrap="square" lIns="0" tIns="0" rIns="0" bIns="0" rtlCol="0" anchor="ctr"/>
          <a:lstStyle/>
          <a:p>
            <a:pPr marL="0" indent="0" algn="ctr">
              <a:buNone/>
            </a:pPr>
            <a:r>
              <a:rPr lang="en-US" sz="1700" b="1" dirty="0">
                <a:solidFill>
                  <a:srgbClr val="2A9D8F"/>
                </a:solidFill>
              </a:rPr>
              <a:t>83,39%</a:t>
            </a:r>
            <a:endParaRPr lang="en-US" sz="1700" dirty="0"/>
          </a:p>
        </p:txBody>
      </p:sp>
      <p:sp>
        <p:nvSpPr>
          <p:cNvPr id="19" name="Text 17"/>
          <p:cNvSpPr/>
          <p:nvPr/>
        </p:nvSpPr>
        <p:spPr>
          <a:xfrm>
            <a:off x="6245352" y="1655064"/>
            <a:ext cx="1453896" cy="164592"/>
          </a:xfrm>
          <a:prstGeom prst="rect">
            <a:avLst/>
          </a:prstGeom>
          <a:noFill/>
        </p:spPr>
        <p:txBody>
          <a:bodyPr wrap="square" lIns="0" tIns="0" rIns="0" bIns="0" rtlCol="0" anchor="ctr">
            <a:normAutofit/>
          </a:bodyPr>
          <a:lstStyle/>
          <a:p>
            <a:pPr marL="0" indent="0" algn="ctr">
              <a:buNone/>
            </a:pPr>
            <a:r>
              <a:rPr lang="en-US" sz="740" dirty="0">
                <a:solidFill>
                  <a:srgbClr val="5D6D7E"/>
                </a:solidFill>
              </a:rPr>
              <a:t>ROC-AUC</a:t>
            </a:r>
            <a:endParaRPr lang="en-US" sz="740" dirty="0"/>
          </a:p>
        </p:txBody>
      </p:sp>
      <p:sp>
        <p:nvSpPr>
          <p:cNvPr id="20" name="Shape 18"/>
          <p:cNvSpPr/>
          <p:nvPr/>
        </p:nvSpPr>
        <p:spPr>
          <a:xfrm>
            <a:off x="8092440" y="1234440"/>
            <a:ext cx="3383280" cy="868680"/>
          </a:xfrm>
          <a:prstGeom prst="roundRect">
            <a:avLst>
              <a:gd name="adj" fmla="val 8421"/>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21" name="Shape 19"/>
          <p:cNvSpPr/>
          <p:nvPr/>
        </p:nvSpPr>
        <p:spPr>
          <a:xfrm>
            <a:off x="8092440" y="1234440"/>
            <a:ext cx="82296" cy="868680"/>
          </a:xfrm>
          <a:prstGeom prst="rect">
            <a:avLst/>
          </a:prstGeom>
          <a:solidFill>
            <a:srgbClr val="F4A261"/>
          </a:solidFill>
          <a:ln w="12700">
            <a:solidFill>
              <a:srgbClr val="F4A261"/>
            </a:solidFill>
            <a:prstDash val="solid"/>
          </a:ln>
        </p:spPr>
      </p:sp>
      <p:sp>
        <p:nvSpPr>
          <p:cNvPr id="22" name="Text 20"/>
          <p:cNvSpPr/>
          <p:nvPr/>
        </p:nvSpPr>
        <p:spPr>
          <a:xfrm>
            <a:off x="8257032" y="1371600"/>
            <a:ext cx="3090672" cy="201168"/>
          </a:xfrm>
          <a:prstGeom prst="rect">
            <a:avLst/>
          </a:prstGeom>
          <a:noFill/>
        </p:spPr>
        <p:txBody>
          <a:bodyPr wrap="square" lIns="0" tIns="0" rIns="0" bIns="0" rtlCol="0" anchor="ctr"/>
          <a:lstStyle/>
          <a:p>
            <a:pPr marL="0" indent="0">
              <a:buNone/>
            </a:pPr>
            <a:r>
              <a:rPr lang="en-US" sz="1050" b="1" dirty="0">
                <a:solidFill>
                  <a:srgbClr val="071A3D"/>
                </a:solidFill>
              </a:rPr>
              <a:t>Selección</a:t>
            </a:r>
            <a:endParaRPr lang="en-US" sz="1050" dirty="0"/>
          </a:p>
        </p:txBody>
      </p:sp>
      <p:sp>
        <p:nvSpPr>
          <p:cNvPr id="23" name="Text 21"/>
          <p:cNvSpPr/>
          <p:nvPr/>
        </p:nvSpPr>
        <p:spPr>
          <a:xfrm>
            <a:off x="8257032" y="1673352"/>
            <a:ext cx="3090672" cy="301752"/>
          </a:xfrm>
          <a:prstGeom prst="rect">
            <a:avLst/>
          </a:prstGeom>
          <a:noFill/>
        </p:spPr>
        <p:txBody>
          <a:bodyPr wrap="square" lIns="127" tIns="127" rIns="127" bIns="127" rtlCol="0" anchor="ctr">
            <a:normAutofit/>
          </a:bodyPr>
          <a:lstStyle/>
          <a:p>
            <a:pPr marL="0" indent="0">
              <a:buNone/>
            </a:pPr>
            <a:r>
              <a:rPr lang="en-US" sz="820" dirty="0">
                <a:solidFill>
                  <a:srgbClr val="111827"/>
                </a:solidFill>
              </a:rPr>
              <a:t>No se seleccionó el modelo solo por accuracy. El criterio central fue detectar la clase lluvia, considerando Recall, F1-Score y ROC-AUC.</a:t>
            </a:r>
            <a:endParaRPr lang="en-US" sz="820" dirty="0"/>
          </a:p>
        </p:txBody>
      </p:sp>
      <p:sp>
        <p:nvSpPr>
          <p:cNvPr id="24" name="Shape 22"/>
          <p:cNvSpPr/>
          <p:nvPr/>
        </p:nvSpPr>
        <p:spPr>
          <a:xfrm>
            <a:off x="658368" y="2395728"/>
            <a:ext cx="10844784" cy="3300984"/>
          </a:xfrm>
          <a:prstGeom prst="roundRect">
            <a:avLst>
              <a:gd name="adj" fmla="val 1662"/>
            </a:avLst>
          </a:prstGeom>
          <a:solidFill>
            <a:srgbClr val="FFFFFF"/>
          </a:solidFill>
          <a:ln w="12700">
            <a:solidFill>
              <a:srgbClr val="D6E4F2"/>
            </a:solidFill>
            <a:prstDash val="solid"/>
          </a:ln>
          <a:effectLst>
            <a:outerShdw blurRad="12700" dist="50800" dir="2700000" algn="bl" rotWithShape="0">
              <a:srgbClr val="000000">
                <a:alpha val="12000"/>
              </a:srgbClr>
            </a:outerShdw>
          </a:effectLst>
        </p:spPr>
      </p:sp>
      <p:sp>
        <p:nvSpPr>
          <p:cNvPr id="25" name="Text 23"/>
          <p:cNvSpPr/>
          <p:nvPr/>
        </p:nvSpPr>
        <p:spPr>
          <a:xfrm>
            <a:off x="685800" y="2194560"/>
            <a:ext cx="10789920" cy="182880"/>
          </a:xfrm>
          <a:prstGeom prst="rect">
            <a:avLst/>
          </a:prstGeom>
          <a:noFill/>
        </p:spPr>
        <p:txBody>
          <a:bodyPr wrap="square" lIns="0" tIns="0" rIns="0" bIns="0" rtlCol="0" anchor="ctr"/>
          <a:lstStyle/>
          <a:p>
            <a:pPr marL="0" indent="0">
              <a:buNone/>
            </a:pPr>
            <a:r>
              <a:rPr lang="en-US" sz="860" b="1" dirty="0">
                <a:solidFill>
                  <a:srgbClr val="071A3D"/>
                </a:solidFill>
              </a:rPr>
              <a:t>Comparación de modelos y matriz de confusión</a:t>
            </a:r>
            <a:endParaRPr lang="en-US" sz="860" dirty="0"/>
          </a:p>
        </p:txBody>
      </p:sp>
      <p:pic>
        <p:nvPicPr>
          <p:cNvPr id="26" name="Image 0" descr="/mnt/data/ppt_assets/classification_dashboard.png"/>
          <p:cNvPicPr>
            <a:picLocks noChangeAspect="1"/>
          </p:cNvPicPr>
          <p:nvPr/>
        </p:nvPicPr>
        <p:blipFill>
          <a:blip r:embed="rId1"/>
          <a:stretch>
            <a:fillRect/>
          </a:stretch>
        </p:blipFill>
        <p:spPr>
          <a:xfrm>
            <a:off x="2953764" y="2423160"/>
            <a:ext cx="6253993" cy="32461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F8FBFF">
                <a:alpha val="0"/>
              </a:srgbClr>
            </a:solidFill>
            <a:prstDash val="solid"/>
          </a:ln>
        </p:spPr>
      </p:sp>
      <p:sp>
        <p:nvSpPr>
          <p:cNvPr id="3" name="Text 1"/>
          <p:cNvSpPr/>
          <p:nvPr/>
        </p:nvSpPr>
        <p:spPr>
          <a:xfrm>
            <a:off x="594360" y="256032"/>
            <a:ext cx="9601200" cy="347472"/>
          </a:xfrm>
          <a:prstGeom prst="rect">
            <a:avLst/>
          </a:prstGeom>
          <a:noFill/>
        </p:spPr>
        <p:txBody>
          <a:bodyPr wrap="square" lIns="0" tIns="0" rIns="0" bIns="0" rtlCol="0" anchor="ctr"/>
          <a:lstStyle/>
          <a:p>
            <a:pPr marL="0" indent="0">
              <a:buNone/>
            </a:pPr>
            <a:r>
              <a:rPr lang="en-US" sz="2500" b="1" dirty="0">
                <a:solidFill>
                  <a:srgbClr val="071A3D"/>
                </a:solidFill>
                <a:latin typeface="Arial" panose="020B0604020202020204" pitchFamily="34" charset="0"/>
                <a:ea typeface="Arial" panose="020B0604020202020204" pitchFamily="34" charset="-122"/>
                <a:cs typeface="Arial" panose="020B0604020202020204" pitchFamily="34" charset="-120"/>
              </a:rPr>
              <a:t>Regresión y clustering: análisis complementario</a:t>
            </a:r>
            <a:endParaRPr lang="en-US" sz="2500" dirty="0"/>
          </a:p>
        </p:txBody>
      </p:sp>
      <p:sp>
        <p:nvSpPr>
          <p:cNvPr id="4" name="Text 2"/>
          <p:cNvSpPr/>
          <p:nvPr/>
        </p:nvSpPr>
        <p:spPr>
          <a:xfrm>
            <a:off x="603504" y="713232"/>
            <a:ext cx="8961120" cy="237744"/>
          </a:xfrm>
          <a:prstGeom prst="rect">
            <a:avLst/>
          </a:prstGeom>
          <a:noFill/>
        </p:spPr>
        <p:txBody>
          <a:bodyPr wrap="square" lIns="0" tIns="0" rIns="0" bIns="0" rtlCol="0" anchor="ctr"/>
          <a:lstStyle/>
          <a:p>
            <a:pPr marL="0" indent="0">
              <a:buNone/>
            </a:pPr>
            <a:r>
              <a:rPr lang="en-US" sz="1050" dirty="0">
                <a:solidFill>
                  <a:srgbClr val="5D6D7E"/>
                </a:solidFill>
                <a:latin typeface="Arial" panose="020B0604020202020204" pitchFamily="34" charset="0"/>
                <a:ea typeface="Arial" panose="020B0604020202020204" pitchFamily="34" charset="-122"/>
                <a:cs typeface="Arial" panose="020B0604020202020204" pitchFamily="34" charset="-120"/>
              </a:rPr>
              <a:t>Estimación de milímetros y segmentación de perfiles climáticos</a:t>
            </a:r>
            <a:endParaRPr lang="en-US" sz="1050" dirty="0"/>
          </a:p>
        </p:txBody>
      </p:sp>
      <p:sp>
        <p:nvSpPr>
          <p:cNvPr id="5" name="Shape 3"/>
          <p:cNvSpPr/>
          <p:nvPr/>
        </p:nvSpPr>
        <p:spPr>
          <a:xfrm>
            <a:off x="594360" y="1024128"/>
            <a:ext cx="10972800" cy="0"/>
          </a:xfrm>
          <a:prstGeom prst="line">
            <a:avLst/>
          </a:prstGeom>
          <a:noFill/>
          <a:ln w="12700">
            <a:solidFill>
              <a:srgbClr val="C9D8EA"/>
            </a:solidFill>
            <a:prstDash val="solid"/>
          </a:ln>
        </p:spPr>
      </p:sp>
      <p:sp>
        <p:nvSpPr>
          <p:cNvPr id="6" name="Text 4"/>
          <p:cNvSpPr/>
          <p:nvPr/>
        </p:nvSpPr>
        <p:spPr>
          <a:xfrm>
            <a:off x="594360" y="6473952"/>
            <a:ext cx="5120640" cy="182880"/>
          </a:xfrm>
          <a:prstGeom prst="rect">
            <a:avLst/>
          </a:prstGeom>
          <a:noFill/>
        </p:spPr>
        <p:txBody>
          <a:bodyPr wrap="square" lIns="0" tIns="0" rIns="0" bIns="0" rtlCol="0" anchor="ctr"/>
          <a:lstStyle/>
          <a:p>
            <a:pPr marL="0" indent="0">
              <a:buNone/>
            </a:pPr>
            <a:r>
              <a:rPr lang="en-US" sz="750" dirty="0">
                <a:solidFill>
                  <a:srgbClr val="708090"/>
                </a:solidFill>
              </a:rPr>
              <a:t>BIY7121 Minería de Datos | Power BI + CRISP-DM</a:t>
            </a:r>
            <a:endParaRPr lang="en-US" sz="750" dirty="0"/>
          </a:p>
        </p:txBody>
      </p:sp>
      <p:sp>
        <p:nvSpPr>
          <p:cNvPr id="7" name="Text 5"/>
          <p:cNvSpPr/>
          <p:nvPr/>
        </p:nvSpPr>
        <p:spPr>
          <a:xfrm>
            <a:off x="11064240" y="6446520"/>
            <a:ext cx="502920" cy="228600"/>
          </a:xfrm>
          <a:prstGeom prst="rect">
            <a:avLst/>
          </a:prstGeom>
          <a:noFill/>
        </p:spPr>
        <p:txBody>
          <a:bodyPr wrap="square" lIns="0" tIns="0" rIns="0" bIns="0" rtlCol="0" anchor="ctr"/>
          <a:lstStyle/>
          <a:p>
            <a:pPr marL="0" indent="0" algn="r">
              <a:buNone/>
            </a:pPr>
            <a:r>
              <a:rPr lang="en-US" sz="850" dirty="0">
                <a:solidFill>
                  <a:srgbClr val="708090"/>
                </a:solidFill>
              </a:rPr>
              <a:t>07</a:t>
            </a:r>
            <a:endParaRPr lang="en-US" sz="850" dirty="0"/>
          </a:p>
        </p:txBody>
      </p:sp>
      <p:sp>
        <p:nvSpPr>
          <p:cNvPr id="8" name="Shape 6"/>
          <p:cNvSpPr/>
          <p:nvPr/>
        </p:nvSpPr>
        <p:spPr>
          <a:xfrm>
            <a:off x="566928" y="1207008"/>
            <a:ext cx="5815584" cy="4306824"/>
          </a:xfrm>
          <a:prstGeom prst="roundRect">
            <a:avLst>
              <a:gd name="adj" fmla="val 1274"/>
            </a:avLst>
          </a:prstGeom>
          <a:solidFill>
            <a:srgbClr val="FFFFFF"/>
          </a:solidFill>
          <a:ln w="12700">
            <a:solidFill>
              <a:srgbClr val="D6E4F2"/>
            </a:solidFill>
            <a:prstDash val="solid"/>
          </a:ln>
          <a:effectLst>
            <a:outerShdw blurRad="12700" dist="50800" dir="2700000" algn="bl" rotWithShape="0">
              <a:srgbClr val="000000">
                <a:alpha val="12000"/>
              </a:srgbClr>
            </a:outerShdw>
          </a:effectLst>
        </p:spPr>
      </p:sp>
      <p:sp>
        <p:nvSpPr>
          <p:cNvPr id="9" name="Text 7"/>
          <p:cNvSpPr/>
          <p:nvPr/>
        </p:nvSpPr>
        <p:spPr>
          <a:xfrm>
            <a:off x="594360" y="1005840"/>
            <a:ext cx="5760720" cy="182880"/>
          </a:xfrm>
          <a:prstGeom prst="rect">
            <a:avLst/>
          </a:prstGeom>
          <a:noFill/>
        </p:spPr>
        <p:txBody>
          <a:bodyPr wrap="square" lIns="0" tIns="0" rIns="0" bIns="0" rtlCol="0" anchor="ctr"/>
          <a:lstStyle/>
          <a:p>
            <a:pPr marL="0" indent="0">
              <a:buNone/>
            </a:pPr>
            <a:r>
              <a:rPr lang="en-US" sz="860" b="1" dirty="0">
                <a:solidFill>
                  <a:srgbClr val="071A3D"/>
                </a:solidFill>
              </a:rPr>
              <a:t>Panel de regresión y K-Means</a:t>
            </a:r>
            <a:endParaRPr lang="en-US" sz="860" dirty="0"/>
          </a:p>
        </p:txBody>
      </p:sp>
      <p:pic>
        <p:nvPicPr>
          <p:cNvPr id="10" name="Image 0" descr="/mnt/data/ppt_assets/regression_clustering_dashboard.png"/>
          <p:cNvPicPr>
            <a:picLocks noChangeAspect="1"/>
          </p:cNvPicPr>
          <p:nvPr/>
        </p:nvPicPr>
        <p:blipFill>
          <a:blip r:embed="rId1"/>
          <a:stretch>
            <a:fillRect/>
          </a:stretch>
        </p:blipFill>
        <p:spPr>
          <a:xfrm>
            <a:off x="594360" y="1851660"/>
            <a:ext cx="5760720" cy="3017520"/>
          </a:xfrm>
          <a:prstGeom prst="rect">
            <a:avLst/>
          </a:prstGeom>
        </p:spPr>
      </p:pic>
      <p:sp>
        <p:nvSpPr>
          <p:cNvPr id="11" name="Shape 8"/>
          <p:cNvSpPr/>
          <p:nvPr/>
        </p:nvSpPr>
        <p:spPr>
          <a:xfrm>
            <a:off x="6629400" y="1298448"/>
            <a:ext cx="4846320" cy="1051560"/>
          </a:xfrm>
          <a:prstGeom prst="roundRect">
            <a:avLst>
              <a:gd name="adj" fmla="val 6957"/>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12" name="Shape 9"/>
          <p:cNvSpPr/>
          <p:nvPr/>
        </p:nvSpPr>
        <p:spPr>
          <a:xfrm>
            <a:off x="6629400" y="1298448"/>
            <a:ext cx="82296" cy="1051560"/>
          </a:xfrm>
          <a:prstGeom prst="rect">
            <a:avLst/>
          </a:prstGeom>
          <a:solidFill>
            <a:srgbClr val="2A9D8F"/>
          </a:solidFill>
          <a:ln w="12700">
            <a:solidFill>
              <a:srgbClr val="2A9D8F"/>
            </a:solidFill>
            <a:prstDash val="solid"/>
          </a:ln>
        </p:spPr>
      </p:sp>
      <p:sp>
        <p:nvSpPr>
          <p:cNvPr id="13" name="Text 10"/>
          <p:cNvSpPr/>
          <p:nvPr/>
        </p:nvSpPr>
        <p:spPr>
          <a:xfrm>
            <a:off x="6793992" y="1435608"/>
            <a:ext cx="4553712" cy="201168"/>
          </a:xfrm>
          <a:prstGeom prst="rect">
            <a:avLst/>
          </a:prstGeom>
          <a:noFill/>
        </p:spPr>
        <p:txBody>
          <a:bodyPr wrap="square" lIns="0" tIns="0" rIns="0" bIns="0" rtlCol="0" anchor="ctr"/>
          <a:lstStyle/>
          <a:p>
            <a:pPr marL="0" indent="0">
              <a:buNone/>
            </a:pPr>
            <a:r>
              <a:rPr lang="en-US" sz="1050" b="1" dirty="0">
                <a:solidFill>
                  <a:srgbClr val="071A3D"/>
                </a:solidFill>
              </a:rPr>
              <a:t>Regresión Lineal</a:t>
            </a:r>
            <a:endParaRPr lang="en-US" sz="1050" dirty="0"/>
          </a:p>
        </p:txBody>
      </p:sp>
      <p:sp>
        <p:nvSpPr>
          <p:cNvPr id="14" name="Text 11"/>
          <p:cNvSpPr/>
          <p:nvPr/>
        </p:nvSpPr>
        <p:spPr>
          <a:xfrm>
            <a:off x="6793992" y="1737360"/>
            <a:ext cx="4553712" cy="484632"/>
          </a:xfrm>
          <a:prstGeom prst="rect">
            <a:avLst/>
          </a:prstGeom>
          <a:noFill/>
        </p:spPr>
        <p:txBody>
          <a:bodyPr wrap="square" lIns="127" tIns="127" rIns="127" bIns="127" rtlCol="0" anchor="ctr">
            <a:normAutofit/>
          </a:bodyPr>
          <a:lstStyle/>
          <a:p>
            <a:pPr marL="0" indent="0">
              <a:buNone/>
            </a:pPr>
            <a:r>
              <a:rPr lang="en-US" sz="820" dirty="0">
                <a:solidFill>
                  <a:srgbClr val="111827"/>
                </a:solidFill>
              </a:rPr>
              <a:t>R² en prueba: 20,58%.</a:t>
            </a:r>
            <a:endParaRPr lang="en-US" sz="820" dirty="0"/>
          </a:p>
          <a:p>
            <a:pPr marL="0" indent="0">
              <a:buNone/>
            </a:pPr>
            <a:r>
              <a:rPr lang="en-US" sz="820" dirty="0">
                <a:solidFill>
                  <a:srgbClr val="111827"/>
                </a:solidFill>
              </a:rPr>
              <a:t>El modelo explica una parte limitada de la variabilidad de RISK_MM; se interpreta como referencia inicial para estimar milímetros.</a:t>
            </a:r>
            <a:endParaRPr lang="en-US" sz="820" dirty="0"/>
          </a:p>
        </p:txBody>
      </p:sp>
      <p:sp>
        <p:nvSpPr>
          <p:cNvPr id="15" name="Shape 12"/>
          <p:cNvSpPr/>
          <p:nvPr/>
        </p:nvSpPr>
        <p:spPr>
          <a:xfrm>
            <a:off x="6629400" y="2670048"/>
            <a:ext cx="4846320" cy="1051560"/>
          </a:xfrm>
          <a:prstGeom prst="roundRect">
            <a:avLst>
              <a:gd name="adj" fmla="val 6957"/>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16" name="Shape 13"/>
          <p:cNvSpPr/>
          <p:nvPr/>
        </p:nvSpPr>
        <p:spPr>
          <a:xfrm>
            <a:off x="6629400" y="2670048"/>
            <a:ext cx="82296" cy="1051560"/>
          </a:xfrm>
          <a:prstGeom prst="rect">
            <a:avLst/>
          </a:prstGeom>
          <a:solidFill>
            <a:srgbClr val="F4A261"/>
          </a:solidFill>
          <a:ln w="12700">
            <a:solidFill>
              <a:srgbClr val="F4A261"/>
            </a:solidFill>
            <a:prstDash val="solid"/>
          </a:ln>
        </p:spPr>
      </p:sp>
      <p:sp>
        <p:nvSpPr>
          <p:cNvPr id="17" name="Text 14"/>
          <p:cNvSpPr/>
          <p:nvPr/>
        </p:nvSpPr>
        <p:spPr>
          <a:xfrm>
            <a:off x="6793992" y="2807208"/>
            <a:ext cx="4553712" cy="201168"/>
          </a:xfrm>
          <a:prstGeom prst="rect">
            <a:avLst/>
          </a:prstGeom>
          <a:noFill/>
        </p:spPr>
        <p:txBody>
          <a:bodyPr wrap="square" lIns="0" tIns="0" rIns="0" bIns="0" rtlCol="0" anchor="ctr"/>
          <a:lstStyle/>
          <a:p>
            <a:pPr marL="0" indent="0">
              <a:buNone/>
            </a:pPr>
            <a:r>
              <a:rPr lang="en-US" sz="1050" b="1" dirty="0">
                <a:solidFill>
                  <a:srgbClr val="071A3D"/>
                </a:solidFill>
              </a:rPr>
              <a:t>K-Means</a:t>
            </a:r>
            <a:endParaRPr lang="en-US" sz="1050" dirty="0"/>
          </a:p>
        </p:txBody>
      </p:sp>
      <p:sp>
        <p:nvSpPr>
          <p:cNvPr id="18" name="Text 15"/>
          <p:cNvSpPr/>
          <p:nvPr/>
        </p:nvSpPr>
        <p:spPr>
          <a:xfrm>
            <a:off x="6793992" y="3108960"/>
            <a:ext cx="4553712" cy="484632"/>
          </a:xfrm>
          <a:prstGeom prst="rect">
            <a:avLst/>
          </a:prstGeom>
          <a:noFill/>
        </p:spPr>
        <p:txBody>
          <a:bodyPr wrap="square" lIns="127" tIns="127" rIns="127" bIns="127" rtlCol="0" anchor="ctr">
            <a:normAutofit/>
          </a:bodyPr>
          <a:lstStyle/>
          <a:p>
            <a:pPr marL="0" indent="0">
              <a:buNone/>
            </a:pPr>
            <a:r>
              <a:rPr lang="en-US" sz="820" dirty="0">
                <a:solidFill>
                  <a:srgbClr val="111827"/>
                </a:solidFill>
              </a:rPr>
              <a:t>K = 3 permitió identificar perfiles: mayor riesgo, riesgo intermedio y perfil más seco. Silhouette = 0,292, por lo que la segmentación es exploratoria.</a:t>
            </a:r>
            <a:endParaRPr lang="en-US" sz="820" dirty="0"/>
          </a:p>
        </p:txBody>
      </p:sp>
      <p:sp>
        <p:nvSpPr>
          <p:cNvPr id="19" name="Shape 16"/>
          <p:cNvSpPr/>
          <p:nvPr/>
        </p:nvSpPr>
        <p:spPr>
          <a:xfrm>
            <a:off x="6629400" y="4041648"/>
            <a:ext cx="4846320" cy="1051560"/>
          </a:xfrm>
          <a:prstGeom prst="roundRect">
            <a:avLst>
              <a:gd name="adj" fmla="val 6957"/>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20" name="Shape 17"/>
          <p:cNvSpPr/>
          <p:nvPr/>
        </p:nvSpPr>
        <p:spPr>
          <a:xfrm>
            <a:off x="6629400" y="4041648"/>
            <a:ext cx="82296" cy="1051560"/>
          </a:xfrm>
          <a:prstGeom prst="rect">
            <a:avLst/>
          </a:prstGeom>
          <a:solidFill>
            <a:srgbClr val="19A7CE"/>
          </a:solidFill>
          <a:ln w="12700">
            <a:solidFill>
              <a:srgbClr val="19A7CE"/>
            </a:solidFill>
            <a:prstDash val="solid"/>
          </a:ln>
        </p:spPr>
      </p:sp>
      <p:sp>
        <p:nvSpPr>
          <p:cNvPr id="21" name="Text 18"/>
          <p:cNvSpPr/>
          <p:nvPr/>
        </p:nvSpPr>
        <p:spPr>
          <a:xfrm>
            <a:off x="6793992" y="4178808"/>
            <a:ext cx="4553712" cy="201168"/>
          </a:xfrm>
          <a:prstGeom prst="rect">
            <a:avLst/>
          </a:prstGeom>
          <a:noFill/>
        </p:spPr>
        <p:txBody>
          <a:bodyPr wrap="square" lIns="0" tIns="0" rIns="0" bIns="0" rtlCol="0" anchor="ctr"/>
          <a:lstStyle/>
          <a:p>
            <a:pPr marL="0" indent="0">
              <a:buNone/>
            </a:pPr>
            <a:r>
              <a:rPr lang="en-US" sz="1050" b="1" dirty="0">
                <a:solidFill>
                  <a:srgbClr val="071A3D"/>
                </a:solidFill>
              </a:rPr>
              <a:t>Método del Codo</a:t>
            </a:r>
            <a:endParaRPr lang="en-US" sz="1050" dirty="0"/>
          </a:p>
        </p:txBody>
      </p:sp>
      <p:sp>
        <p:nvSpPr>
          <p:cNvPr id="22" name="Text 19"/>
          <p:cNvSpPr/>
          <p:nvPr/>
        </p:nvSpPr>
        <p:spPr>
          <a:xfrm>
            <a:off x="6793992" y="4480560"/>
            <a:ext cx="4553712" cy="484632"/>
          </a:xfrm>
          <a:prstGeom prst="rect">
            <a:avLst/>
          </a:prstGeom>
          <a:noFill/>
        </p:spPr>
        <p:txBody>
          <a:bodyPr wrap="square" lIns="127" tIns="127" rIns="127" bIns="127" rtlCol="0" anchor="ctr">
            <a:normAutofit/>
          </a:bodyPr>
          <a:lstStyle/>
          <a:p>
            <a:pPr marL="0" indent="0">
              <a:buNone/>
            </a:pPr>
            <a:r>
              <a:rPr lang="en-US" sz="820" dirty="0">
                <a:solidFill>
                  <a:srgbClr val="111827"/>
                </a:solidFill>
              </a:rPr>
              <a:t>El codo respalda la elección de K = 3 como equilibrio entre reducción de inercia e interpretabilidad del perfil climático.</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F8FBFF">
                <a:alpha val="0"/>
              </a:srgbClr>
            </a:solidFill>
            <a:prstDash val="solid"/>
          </a:ln>
        </p:spPr>
      </p:sp>
      <p:sp>
        <p:nvSpPr>
          <p:cNvPr id="3" name="Text 1"/>
          <p:cNvSpPr/>
          <p:nvPr/>
        </p:nvSpPr>
        <p:spPr>
          <a:xfrm>
            <a:off x="594360" y="256032"/>
            <a:ext cx="9601200" cy="347472"/>
          </a:xfrm>
          <a:prstGeom prst="rect">
            <a:avLst/>
          </a:prstGeom>
          <a:noFill/>
        </p:spPr>
        <p:txBody>
          <a:bodyPr wrap="square" lIns="0" tIns="0" rIns="0" bIns="0" rtlCol="0" anchor="ctr"/>
          <a:lstStyle/>
          <a:p>
            <a:pPr marL="0" indent="0">
              <a:buNone/>
            </a:pPr>
            <a:r>
              <a:rPr lang="en-US" sz="2500" b="1" dirty="0">
                <a:solidFill>
                  <a:srgbClr val="071A3D"/>
                </a:solidFill>
                <a:latin typeface="Arial" panose="020B0604020202020204" pitchFamily="34" charset="0"/>
                <a:ea typeface="Arial" panose="020B0604020202020204" pitchFamily="34" charset="-122"/>
                <a:cs typeface="Arial" panose="020B0604020202020204" pitchFamily="34" charset="-120"/>
              </a:rPr>
              <a:t>Power BI: resultados técnicos convertidos en visualización</a:t>
            </a:r>
            <a:endParaRPr lang="en-US" sz="2500" dirty="0"/>
          </a:p>
        </p:txBody>
      </p:sp>
      <p:sp>
        <p:nvSpPr>
          <p:cNvPr id="4" name="Text 2"/>
          <p:cNvSpPr/>
          <p:nvPr/>
        </p:nvSpPr>
        <p:spPr>
          <a:xfrm>
            <a:off x="603504" y="713232"/>
            <a:ext cx="8961120" cy="237744"/>
          </a:xfrm>
          <a:prstGeom prst="rect">
            <a:avLst/>
          </a:prstGeom>
          <a:noFill/>
        </p:spPr>
        <p:txBody>
          <a:bodyPr wrap="square" lIns="0" tIns="0" rIns="0" bIns="0" rtlCol="0" anchor="ctr"/>
          <a:lstStyle/>
          <a:p>
            <a:pPr marL="0" indent="0">
              <a:buNone/>
            </a:pPr>
            <a:r>
              <a:rPr lang="en-US" sz="1050" dirty="0">
                <a:solidFill>
                  <a:srgbClr val="5D6D7E"/>
                </a:solidFill>
                <a:latin typeface="Arial" panose="020B0604020202020204" pitchFamily="34" charset="0"/>
                <a:ea typeface="Arial" panose="020B0604020202020204" pitchFamily="34" charset="-122"/>
                <a:cs typeface="Arial" panose="020B0604020202020204" pitchFamily="34" charset="-120"/>
              </a:rPr>
              <a:t>Dashboard ejecutivo para interpretar modelos, patrones y desempeño</a:t>
            </a:r>
            <a:endParaRPr lang="en-US" sz="1050" dirty="0"/>
          </a:p>
        </p:txBody>
      </p:sp>
      <p:sp>
        <p:nvSpPr>
          <p:cNvPr id="5" name="Shape 3"/>
          <p:cNvSpPr/>
          <p:nvPr/>
        </p:nvSpPr>
        <p:spPr>
          <a:xfrm>
            <a:off x="594360" y="1024128"/>
            <a:ext cx="10972800" cy="0"/>
          </a:xfrm>
          <a:prstGeom prst="line">
            <a:avLst/>
          </a:prstGeom>
          <a:noFill/>
          <a:ln w="12700">
            <a:solidFill>
              <a:srgbClr val="C9D8EA"/>
            </a:solidFill>
            <a:prstDash val="solid"/>
          </a:ln>
        </p:spPr>
      </p:sp>
      <p:sp>
        <p:nvSpPr>
          <p:cNvPr id="6" name="Text 4"/>
          <p:cNvSpPr/>
          <p:nvPr/>
        </p:nvSpPr>
        <p:spPr>
          <a:xfrm>
            <a:off x="594360" y="6473952"/>
            <a:ext cx="5120640" cy="182880"/>
          </a:xfrm>
          <a:prstGeom prst="rect">
            <a:avLst/>
          </a:prstGeom>
          <a:noFill/>
        </p:spPr>
        <p:txBody>
          <a:bodyPr wrap="square" lIns="0" tIns="0" rIns="0" bIns="0" rtlCol="0" anchor="ctr"/>
          <a:lstStyle/>
          <a:p>
            <a:pPr marL="0" indent="0">
              <a:buNone/>
            </a:pPr>
            <a:r>
              <a:rPr lang="en-US" sz="750" dirty="0">
                <a:solidFill>
                  <a:srgbClr val="708090"/>
                </a:solidFill>
              </a:rPr>
              <a:t>BIY7121 Minería de Datos | Power BI + CRISP-DM</a:t>
            </a:r>
            <a:endParaRPr lang="en-US" sz="750" dirty="0"/>
          </a:p>
        </p:txBody>
      </p:sp>
      <p:sp>
        <p:nvSpPr>
          <p:cNvPr id="7" name="Text 5"/>
          <p:cNvSpPr/>
          <p:nvPr/>
        </p:nvSpPr>
        <p:spPr>
          <a:xfrm>
            <a:off x="11064240" y="6446520"/>
            <a:ext cx="502920" cy="228600"/>
          </a:xfrm>
          <a:prstGeom prst="rect">
            <a:avLst/>
          </a:prstGeom>
          <a:noFill/>
        </p:spPr>
        <p:txBody>
          <a:bodyPr wrap="square" lIns="0" tIns="0" rIns="0" bIns="0" rtlCol="0" anchor="ctr"/>
          <a:lstStyle/>
          <a:p>
            <a:pPr marL="0" indent="0" algn="r">
              <a:buNone/>
            </a:pPr>
            <a:r>
              <a:rPr lang="en-US" sz="850" dirty="0">
                <a:solidFill>
                  <a:srgbClr val="708090"/>
                </a:solidFill>
              </a:rPr>
              <a:t>08</a:t>
            </a:r>
            <a:endParaRPr lang="en-US" sz="850" dirty="0"/>
          </a:p>
        </p:txBody>
      </p:sp>
      <p:sp>
        <p:nvSpPr>
          <p:cNvPr id="8" name="Shape 6"/>
          <p:cNvSpPr/>
          <p:nvPr/>
        </p:nvSpPr>
        <p:spPr>
          <a:xfrm>
            <a:off x="566928" y="1207008"/>
            <a:ext cx="6684264" cy="4306824"/>
          </a:xfrm>
          <a:prstGeom prst="roundRect">
            <a:avLst>
              <a:gd name="adj" fmla="val 1274"/>
            </a:avLst>
          </a:prstGeom>
          <a:solidFill>
            <a:srgbClr val="FFFFFF"/>
          </a:solidFill>
          <a:ln w="12700">
            <a:solidFill>
              <a:srgbClr val="D6E4F2"/>
            </a:solidFill>
            <a:prstDash val="solid"/>
          </a:ln>
          <a:effectLst>
            <a:outerShdw blurRad="12700" dist="50800" dir="2700000" algn="bl" rotWithShape="0">
              <a:srgbClr val="000000">
                <a:alpha val="12000"/>
              </a:srgbClr>
            </a:outerShdw>
          </a:effectLst>
        </p:spPr>
      </p:sp>
      <p:sp>
        <p:nvSpPr>
          <p:cNvPr id="9" name="Text 7"/>
          <p:cNvSpPr/>
          <p:nvPr/>
        </p:nvSpPr>
        <p:spPr>
          <a:xfrm>
            <a:off x="594360" y="1005840"/>
            <a:ext cx="6629400" cy="182880"/>
          </a:xfrm>
          <a:prstGeom prst="rect">
            <a:avLst/>
          </a:prstGeom>
          <a:noFill/>
        </p:spPr>
        <p:txBody>
          <a:bodyPr wrap="square" lIns="0" tIns="0" rIns="0" bIns="0" rtlCol="0" anchor="ctr"/>
          <a:lstStyle/>
          <a:p>
            <a:pPr marL="0" indent="0">
              <a:buNone/>
            </a:pPr>
            <a:r>
              <a:rPr lang="en-US" sz="860" b="1" dirty="0">
                <a:solidFill>
                  <a:srgbClr val="071A3D"/>
                </a:solidFill>
              </a:rPr>
              <a:t>Resumen ejecutivo del dashboard</a:t>
            </a:r>
            <a:endParaRPr lang="en-US" sz="860" dirty="0"/>
          </a:p>
        </p:txBody>
      </p:sp>
      <p:pic>
        <p:nvPicPr>
          <p:cNvPr id="10" name="Image 0" descr="/mnt/data/ppt_assets/summary_dashboard.png"/>
          <p:cNvPicPr>
            <a:picLocks noChangeAspect="1"/>
          </p:cNvPicPr>
          <p:nvPr/>
        </p:nvPicPr>
        <p:blipFill>
          <a:blip r:embed="rId1"/>
          <a:stretch>
            <a:fillRect/>
          </a:stretch>
        </p:blipFill>
        <p:spPr>
          <a:xfrm>
            <a:off x="594360" y="1552402"/>
            <a:ext cx="6629400" cy="3616036"/>
          </a:xfrm>
          <a:prstGeom prst="rect">
            <a:avLst/>
          </a:prstGeom>
        </p:spPr>
      </p:pic>
      <p:sp>
        <p:nvSpPr>
          <p:cNvPr id="11" name="Shape 8"/>
          <p:cNvSpPr/>
          <p:nvPr/>
        </p:nvSpPr>
        <p:spPr>
          <a:xfrm>
            <a:off x="7543800" y="1234440"/>
            <a:ext cx="3977640" cy="4251960"/>
          </a:xfrm>
          <a:prstGeom prst="roundRect">
            <a:avLst>
              <a:gd name="adj" fmla="val 2069"/>
            </a:avLst>
          </a:prstGeom>
          <a:solidFill>
            <a:srgbClr val="FFFFFF"/>
          </a:solidFill>
          <a:ln w="12700">
            <a:solidFill>
              <a:srgbClr val="D5E4F4"/>
            </a:solidFill>
            <a:prstDash val="solid"/>
          </a:ln>
          <a:effectLst>
            <a:outerShdw blurRad="12700" dist="50800" dir="2700000" algn="bl" rotWithShape="0">
              <a:srgbClr val="000000">
                <a:alpha val="10000"/>
              </a:srgbClr>
            </a:outerShdw>
          </a:effectLst>
        </p:spPr>
      </p:sp>
      <p:sp>
        <p:nvSpPr>
          <p:cNvPr id="12" name="Text 9"/>
          <p:cNvSpPr/>
          <p:nvPr/>
        </p:nvSpPr>
        <p:spPr>
          <a:xfrm>
            <a:off x="7818120" y="1508760"/>
            <a:ext cx="3474720" cy="274320"/>
          </a:xfrm>
          <a:prstGeom prst="rect">
            <a:avLst/>
          </a:prstGeom>
          <a:noFill/>
        </p:spPr>
        <p:txBody>
          <a:bodyPr wrap="square" lIns="0" tIns="0" rIns="0" bIns="0" rtlCol="0" anchor="ctr"/>
          <a:lstStyle/>
          <a:p>
            <a:pPr marL="0" indent="0">
              <a:buNone/>
            </a:pPr>
            <a:r>
              <a:rPr lang="en-US" sz="1500" b="1" dirty="0">
                <a:solidFill>
                  <a:srgbClr val="071A3D"/>
                </a:solidFill>
              </a:rPr>
              <a:t>Qué permite visualizar</a:t>
            </a:r>
            <a:endParaRPr lang="en-US" sz="1500" dirty="0"/>
          </a:p>
        </p:txBody>
      </p:sp>
      <p:sp>
        <p:nvSpPr>
          <p:cNvPr id="13" name="Text 10"/>
          <p:cNvSpPr/>
          <p:nvPr/>
        </p:nvSpPr>
        <p:spPr>
          <a:xfrm>
            <a:off x="7863840" y="1993392"/>
            <a:ext cx="3337560" cy="1554480"/>
          </a:xfrm>
          <a:prstGeom prst="rect">
            <a:avLst/>
          </a:prstGeom>
          <a:noFill/>
        </p:spPr>
        <p:txBody>
          <a:bodyPr wrap="square" lIns="254" tIns="254" rIns="254" bIns="254" rtlCol="0" anchor="t">
            <a:normAutofit/>
          </a:bodyPr>
          <a:lstStyle/>
          <a:p>
            <a:pPr marL="0" indent="0">
              <a:buNone/>
            </a:pPr>
            <a:r>
              <a:rPr lang="en-US" sz="960" dirty="0">
                <a:solidFill>
                  <a:srgbClr val="111827"/>
                </a:solidFill>
              </a:rPr>
              <a:t>• KPIs globales del proyecto.
</a:t>
            </a:r>
            <a:r>
              <a:rPr lang="en-US" sz="960" dirty="0">
                <a:solidFill>
                  <a:srgbClr val="111827"/>
                </a:solidFill>
              </a:rPr>
              <a:t>• Desbalance de RainTomorrow.
</a:t>
            </a:r>
            <a:r>
              <a:rPr lang="en-US" sz="960" dirty="0">
                <a:solidFill>
                  <a:srgbClr val="111827"/>
                </a:solidFill>
              </a:rPr>
              <a:t>• Comparación entre lluvia real y predicha.
</a:t>
            </a:r>
            <a:r>
              <a:rPr lang="en-US" sz="960" dirty="0">
                <a:solidFill>
                  <a:srgbClr val="111827"/>
                </a:solidFill>
              </a:rPr>
              <a:t>• Desempeño del modelo seleccionado.
</a:t>
            </a:r>
            <a:r>
              <a:rPr lang="en-US" sz="960" dirty="0">
                <a:solidFill>
                  <a:srgbClr val="111827"/>
                </a:solidFill>
              </a:rPr>
              <a:t>• Filtros por conjunto, ubicación y mes.</a:t>
            </a:r>
            <a:endParaRPr lang="en-US" sz="960" dirty="0"/>
          </a:p>
        </p:txBody>
      </p:sp>
      <p:sp>
        <p:nvSpPr>
          <p:cNvPr id="14" name="Shape 11"/>
          <p:cNvSpPr/>
          <p:nvPr/>
        </p:nvSpPr>
        <p:spPr>
          <a:xfrm>
            <a:off x="7818120" y="4023360"/>
            <a:ext cx="3429000" cy="914400"/>
          </a:xfrm>
          <a:prstGeom prst="roundRect">
            <a:avLst>
              <a:gd name="adj" fmla="val 8000"/>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15" name="Shape 12"/>
          <p:cNvSpPr/>
          <p:nvPr/>
        </p:nvSpPr>
        <p:spPr>
          <a:xfrm>
            <a:off x="7818120" y="4023360"/>
            <a:ext cx="82296" cy="914400"/>
          </a:xfrm>
          <a:prstGeom prst="rect">
            <a:avLst/>
          </a:prstGeom>
          <a:solidFill>
            <a:srgbClr val="F4A261"/>
          </a:solidFill>
          <a:ln w="12700">
            <a:solidFill>
              <a:srgbClr val="F4A261"/>
            </a:solidFill>
            <a:prstDash val="solid"/>
          </a:ln>
        </p:spPr>
      </p:sp>
      <p:sp>
        <p:nvSpPr>
          <p:cNvPr id="16" name="Text 13"/>
          <p:cNvSpPr/>
          <p:nvPr/>
        </p:nvSpPr>
        <p:spPr>
          <a:xfrm>
            <a:off x="7982712" y="4160520"/>
            <a:ext cx="3136392" cy="201168"/>
          </a:xfrm>
          <a:prstGeom prst="rect">
            <a:avLst/>
          </a:prstGeom>
          <a:noFill/>
        </p:spPr>
        <p:txBody>
          <a:bodyPr wrap="square" lIns="0" tIns="0" rIns="0" bIns="0" rtlCol="0" anchor="ctr"/>
          <a:lstStyle/>
          <a:p>
            <a:pPr marL="0" indent="0">
              <a:buNone/>
            </a:pPr>
            <a:r>
              <a:rPr lang="en-US" sz="1050" b="1" dirty="0">
                <a:solidFill>
                  <a:srgbClr val="071A3D"/>
                </a:solidFill>
              </a:rPr>
              <a:t>Insight ejecutivo</a:t>
            </a:r>
            <a:endParaRPr lang="en-US" sz="1050" dirty="0"/>
          </a:p>
        </p:txBody>
      </p:sp>
      <p:sp>
        <p:nvSpPr>
          <p:cNvPr id="17" name="Text 14"/>
          <p:cNvSpPr/>
          <p:nvPr/>
        </p:nvSpPr>
        <p:spPr>
          <a:xfrm>
            <a:off x="7982712" y="4462272"/>
            <a:ext cx="3136392" cy="347472"/>
          </a:xfrm>
          <a:prstGeom prst="rect">
            <a:avLst/>
          </a:prstGeom>
          <a:noFill/>
        </p:spPr>
        <p:txBody>
          <a:bodyPr wrap="square" lIns="127" tIns="127" rIns="127" bIns="127" rtlCol="0" anchor="ctr">
            <a:normAutofit/>
          </a:bodyPr>
          <a:lstStyle/>
          <a:p>
            <a:pPr marL="0" indent="0">
              <a:buNone/>
            </a:pPr>
            <a:r>
              <a:rPr lang="en-US" sz="820" dirty="0">
                <a:solidFill>
                  <a:srgbClr val="111827"/>
                </a:solidFill>
              </a:rPr>
              <a:t>La tasa predicha supera a la tasa real, lo que indica tendencia a sobreestimar lluvia. Esto es útil para analizar falsas alertas y ajustar umbrales.</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F8FBFF">
                <a:alpha val="0"/>
              </a:srgbClr>
            </a:solidFill>
            <a:prstDash val="solid"/>
          </a:ln>
        </p:spPr>
      </p:sp>
      <p:sp>
        <p:nvSpPr>
          <p:cNvPr id="3" name="Text 1"/>
          <p:cNvSpPr/>
          <p:nvPr/>
        </p:nvSpPr>
        <p:spPr>
          <a:xfrm>
            <a:off x="594360" y="256032"/>
            <a:ext cx="9601200" cy="347472"/>
          </a:xfrm>
          <a:prstGeom prst="rect">
            <a:avLst/>
          </a:prstGeom>
          <a:noFill/>
        </p:spPr>
        <p:txBody>
          <a:bodyPr wrap="square" lIns="0" tIns="0" rIns="0" bIns="0" rtlCol="0" anchor="ctr"/>
          <a:lstStyle/>
          <a:p>
            <a:pPr marL="0" indent="0">
              <a:buNone/>
            </a:pPr>
            <a:r>
              <a:rPr lang="en-US" sz="2500" b="1" dirty="0">
                <a:solidFill>
                  <a:srgbClr val="071A3D"/>
                </a:solidFill>
                <a:latin typeface="Arial" panose="020B0604020202020204" pitchFamily="34" charset="0"/>
                <a:ea typeface="Arial" panose="020B0604020202020204" pitchFamily="34" charset="-122"/>
                <a:cs typeface="Arial" panose="020B0604020202020204" pitchFamily="34" charset="-120"/>
              </a:rPr>
              <a:t>Insights territoriales para apoyar decisiones</a:t>
            </a:r>
            <a:endParaRPr lang="en-US" sz="2500" dirty="0"/>
          </a:p>
        </p:txBody>
      </p:sp>
      <p:sp>
        <p:nvSpPr>
          <p:cNvPr id="4" name="Text 2"/>
          <p:cNvSpPr/>
          <p:nvPr/>
        </p:nvSpPr>
        <p:spPr>
          <a:xfrm>
            <a:off x="603504" y="713232"/>
            <a:ext cx="8961120" cy="237744"/>
          </a:xfrm>
          <a:prstGeom prst="rect">
            <a:avLst/>
          </a:prstGeom>
          <a:noFill/>
        </p:spPr>
        <p:txBody>
          <a:bodyPr wrap="square" lIns="0" tIns="0" rIns="0" bIns="0" rtlCol="0" anchor="ctr"/>
          <a:lstStyle/>
          <a:p>
            <a:pPr marL="0" indent="0">
              <a:buNone/>
            </a:pPr>
            <a:r>
              <a:rPr lang="en-US" sz="1050" dirty="0">
                <a:solidFill>
                  <a:srgbClr val="5D6D7E"/>
                </a:solidFill>
                <a:latin typeface="Arial" panose="020B0604020202020204" pitchFamily="34" charset="0"/>
                <a:ea typeface="Arial" panose="020B0604020202020204" pitchFamily="34" charset="-122"/>
                <a:cs typeface="Arial" panose="020B0604020202020204" pitchFamily="34" charset="-120"/>
              </a:rPr>
              <a:t>Patrones por ubicación, predicción territorial y diferencias del modelo</a:t>
            </a:r>
            <a:endParaRPr lang="en-US" sz="1050" dirty="0"/>
          </a:p>
        </p:txBody>
      </p:sp>
      <p:sp>
        <p:nvSpPr>
          <p:cNvPr id="5" name="Shape 3"/>
          <p:cNvSpPr/>
          <p:nvPr/>
        </p:nvSpPr>
        <p:spPr>
          <a:xfrm>
            <a:off x="594360" y="1024128"/>
            <a:ext cx="10972800" cy="0"/>
          </a:xfrm>
          <a:prstGeom prst="line">
            <a:avLst/>
          </a:prstGeom>
          <a:noFill/>
          <a:ln w="12700">
            <a:solidFill>
              <a:srgbClr val="C9D8EA"/>
            </a:solidFill>
            <a:prstDash val="solid"/>
          </a:ln>
        </p:spPr>
      </p:sp>
      <p:sp>
        <p:nvSpPr>
          <p:cNvPr id="6" name="Text 4"/>
          <p:cNvSpPr/>
          <p:nvPr/>
        </p:nvSpPr>
        <p:spPr>
          <a:xfrm>
            <a:off x="594360" y="6473952"/>
            <a:ext cx="5120640" cy="182880"/>
          </a:xfrm>
          <a:prstGeom prst="rect">
            <a:avLst/>
          </a:prstGeom>
          <a:noFill/>
        </p:spPr>
        <p:txBody>
          <a:bodyPr wrap="square" lIns="0" tIns="0" rIns="0" bIns="0" rtlCol="0" anchor="ctr"/>
          <a:lstStyle/>
          <a:p>
            <a:pPr marL="0" indent="0">
              <a:buNone/>
            </a:pPr>
            <a:r>
              <a:rPr lang="en-US" sz="750" dirty="0">
                <a:solidFill>
                  <a:srgbClr val="708090"/>
                </a:solidFill>
              </a:rPr>
              <a:t>BIY7121 Minería de Datos | Power BI + CRISP-DM</a:t>
            </a:r>
            <a:endParaRPr lang="en-US" sz="750" dirty="0"/>
          </a:p>
        </p:txBody>
      </p:sp>
      <p:sp>
        <p:nvSpPr>
          <p:cNvPr id="7" name="Text 5"/>
          <p:cNvSpPr/>
          <p:nvPr/>
        </p:nvSpPr>
        <p:spPr>
          <a:xfrm>
            <a:off x="11064240" y="6446520"/>
            <a:ext cx="502920" cy="228600"/>
          </a:xfrm>
          <a:prstGeom prst="rect">
            <a:avLst/>
          </a:prstGeom>
          <a:noFill/>
        </p:spPr>
        <p:txBody>
          <a:bodyPr wrap="square" lIns="0" tIns="0" rIns="0" bIns="0" rtlCol="0" anchor="ctr"/>
          <a:lstStyle/>
          <a:p>
            <a:pPr marL="0" indent="0" algn="r">
              <a:buNone/>
            </a:pPr>
            <a:r>
              <a:rPr lang="en-US" sz="850" dirty="0">
                <a:solidFill>
                  <a:srgbClr val="708090"/>
                </a:solidFill>
              </a:rPr>
              <a:t>09</a:t>
            </a:r>
            <a:endParaRPr lang="en-US" sz="850" dirty="0"/>
          </a:p>
        </p:txBody>
      </p:sp>
      <p:sp>
        <p:nvSpPr>
          <p:cNvPr id="8" name="Shape 6"/>
          <p:cNvSpPr/>
          <p:nvPr/>
        </p:nvSpPr>
        <p:spPr>
          <a:xfrm>
            <a:off x="566928" y="1325880"/>
            <a:ext cx="5358384" cy="2660904"/>
          </a:xfrm>
          <a:prstGeom prst="roundRect">
            <a:avLst>
              <a:gd name="adj" fmla="val 2062"/>
            </a:avLst>
          </a:prstGeom>
          <a:solidFill>
            <a:srgbClr val="FFFFFF"/>
          </a:solidFill>
          <a:ln w="12700">
            <a:solidFill>
              <a:srgbClr val="D6E4F2"/>
            </a:solidFill>
            <a:prstDash val="solid"/>
          </a:ln>
          <a:effectLst>
            <a:outerShdw blurRad="12700" dist="50800" dir="2700000" algn="bl" rotWithShape="0">
              <a:srgbClr val="000000">
                <a:alpha val="12000"/>
              </a:srgbClr>
            </a:outerShdw>
          </a:effectLst>
        </p:spPr>
      </p:sp>
      <p:pic>
        <p:nvPicPr>
          <p:cNvPr id="9" name="Image 0" descr="/mnt/data/ppt_assets/patterns_dashboard.png"/>
          <p:cNvPicPr>
            <a:picLocks noChangeAspect="1"/>
          </p:cNvPicPr>
          <p:nvPr/>
        </p:nvPicPr>
        <p:blipFill>
          <a:blip r:embed="rId1"/>
          <a:stretch>
            <a:fillRect/>
          </a:stretch>
        </p:blipFill>
        <p:spPr>
          <a:xfrm>
            <a:off x="735714" y="1353312"/>
            <a:ext cx="5020811" cy="2606040"/>
          </a:xfrm>
          <a:prstGeom prst="rect">
            <a:avLst/>
          </a:prstGeom>
        </p:spPr>
      </p:pic>
      <p:sp>
        <p:nvSpPr>
          <p:cNvPr id="10" name="Shape 7"/>
          <p:cNvSpPr/>
          <p:nvPr/>
        </p:nvSpPr>
        <p:spPr>
          <a:xfrm>
            <a:off x="6144768" y="1325880"/>
            <a:ext cx="5358384" cy="2660904"/>
          </a:xfrm>
          <a:prstGeom prst="roundRect">
            <a:avLst>
              <a:gd name="adj" fmla="val 2062"/>
            </a:avLst>
          </a:prstGeom>
          <a:solidFill>
            <a:srgbClr val="FFFFFF"/>
          </a:solidFill>
          <a:ln w="12700">
            <a:solidFill>
              <a:srgbClr val="D6E4F2"/>
            </a:solidFill>
            <a:prstDash val="solid"/>
          </a:ln>
          <a:effectLst>
            <a:outerShdw blurRad="12700" dist="50800" dir="2700000" algn="bl" rotWithShape="0">
              <a:srgbClr val="000000">
                <a:alpha val="12000"/>
              </a:srgbClr>
            </a:outerShdw>
          </a:effectLst>
        </p:spPr>
      </p:sp>
      <p:pic>
        <p:nvPicPr>
          <p:cNvPr id="11" name="Image 1" descr="/mnt/data/ppt_assets/territorial_dashboard.png"/>
          <p:cNvPicPr>
            <a:picLocks noChangeAspect="1"/>
          </p:cNvPicPr>
          <p:nvPr/>
        </p:nvPicPr>
        <p:blipFill>
          <a:blip r:embed="rId2"/>
          <a:stretch>
            <a:fillRect/>
          </a:stretch>
        </p:blipFill>
        <p:spPr>
          <a:xfrm>
            <a:off x="6336376" y="1353312"/>
            <a:ext cx="4975167" cy="2606040"/>
          </a:xfrm>
          <a:prstGeom prst="rect">
            <a:avLst/>
          </a:prstGeom>
        </p:spPr>
      </p:pic>
      <p:sp>
        <p:nvSpPr>
          <p:cNvPr id="12" name="Shape 8"/>
          <p:cNvSpPr/>
          <p:nvPr/>
        </p:nvSpPr>
        <p:spPr>
          <a:xfrm>
            <a:off x="822960" y="4343400"/>
            <a:ext cx="3429000" cy="777240"/>
          </a:xfrm>
          <a:prstGeom prst="roundRect">
            <a:avLst>
              <a:gd name="adj" fmla="val 9412"/>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13" name="Shape 9"/>
          <p:cNvSpPr/>
          <p:nvPr/>
        </p:nvSpPr>
        <p:spPr>
          <a:xfrm>
            <a:off x="822960" y="4343400"/>
            <a:ext cx="82296" cy="777240"/>
          </a:xfrm>
          <a:prstGeom prst="rect">
            <a:avLst/>
          </a:prstGeom>
          <a:solidFill>
            <a:srgbClr val="0B5CAD"/>
          </a:solidFill>
          <a:ln w="12700">
            <a:solidFill>
              <a:srgbClr val="0B5CAD"/>
            </a:solidFill>
            <a:prstDash val="solid"/>
          </a:ln>
        </p:spPr>
      </p:sp>
      <p:sp>
        <p:nvSpPr>
          <p:cNvPr id="14" name="Text 10"/>
          <p:cNvSpPr/>
          <p:nvPr/>
        </p:nvSpPr>
        <p:spPr>
          <a:xfrm>
            <a:off x="987552" y="4480560"/>
            <a:ext cx="3136392" cy="201168"/>
          </a:xfrm>
          <a:prstGeom prst="rect">
            <a:avLst/>
          </a:prstGeom>
          <a:noFill/>
        </p:spPr>
        <p:txBody>
          <a:bodyPr wrap="square" lIns="0" tIns="0" rIns="0" bIns="0" rtlCol="0" anchor="ctr"/>
          <a:lstStyle/>
          <a:p>
            <a:pPr marL="0" indent="0">
              <a:buNone/>
            </a:pPr>
            <a:r>
              <a:rPr lang="en-US" sz="1050" b="1" dirty="0">
                <a:solidFill>
                  <a:srgbClr val="071A3D"/>
                </a:solidFill>
              </a:rPr>
              <a:t>Zonas con mayor precipitación</a:t>
            </a:r>
            <a:endParaRPr lang="en-US" sz="1050" dirty="0"/>
          </a:p>
        </p:txBody>
      </p:sp>
      <p:sp>
        <p:nvSpPr>
          <p:cNvPr id="15" name="Text 11"/>
          <p:cNvSpPr/>
          <p:nvPr/>
        </p:nvSpPr>
        <p:spPr>
          <a:xfrm>
            <a:off x="987552" y="4782312"/>
            <a:ext cx="3136392" cy="210312"/>
          </a:xfrm>
          <a:prstGeom prst="rect">
            <a:avLst/>
          </a:prstGeom>
          <a:noFill/>
        </p:spPr>
        <p:txBody>
          <a:bodyPr wrap="square" lIns="127" tIns="127" rIns="127" bIns="127" rtlCol="0" anchor="ctr">
            <a:normAutofit/>
          </a:bodyPr>
          <a:lstStyle/>
          <a:p>
            <a:pPr marL="0" indent="0">
              <a:buNone/>
            </a:pPr>
            <a:r>
              <a:rPr lang="en-US" sz="820" dirty="0">
                <a:solidFill>
                  <a:srgbClr val="111827"/>
                </a:solidFill>
              </a:rPr>
              <a:t>Darwin, Cairns, Coffs Harbour, Gold Coast y Norah Head destacan por mayor lluvia promedio.</a:t>
            </a:r>
            <a:endParaRPr lang="en-US" sz="820" dirty="0"/>
          </a:p>
        </p:txBody>
      </p:sp>
      <p:sp>
        <p:nvSpPr>
          <p:cNvPr id="16" name="Shape 12"/>
          <p:cNvSpPr/>
          <p:nvPr/>
        </p:nvSpPr>
        <p:spPr>
          <a:xfrm>
            <a:off x="4434840" y="4343400"/>
            <a:ext cx="3429000" cy="777240"/>
          </a:xfrm>
          <a:prstGeom prst="roundRect">
            <a:avLst>
              <a:gd name="adj" fmla="val 9412"/>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17" name="Shape 13"/>
          <p:cNvSpPr/>
          <p:nvPr/>
        </p:nvSpPr>
        <p:spPr>
          <a:xfrm>
            <a:off x="4434840" y="4343400"/>
            <a:ext cx="82296" cy="777240"/>
          </a:xfrm>
          <a:prstGeom prst="rect">
            <a:avLst/>
          </a:prstGeom>
          <a:solidFill>
            <a:srgbClr val="2A9D8F"/>
          </a:solidFill>
          <a:ln w="12700">
            <a:solidFill>
              <a:srgbClr val="2A9D8F"/>
            </a:solidFill>
            <a:prstDash val="solid"/>
          </a:ln>
        </p:spPr>
      </p:sp>
      <p:sp>
        <p:nvSpPr>
          <p:cNvPr id="18" name="Text 14"/>
          <p:cNvSpPr/>
          <p:nvPr/>
        </p:nvSpPr>
        <p:spPr>
          <a:xfrm>
            <a:off x="4599432" y="4480560"/>
            <a:ext cx="3136392" cy="201168"/>
          </a:xfrm>
          <a:prstGeom prst="rect">
            <a:avLst/>
          </a:prstGeom>
          <a:noFill/>
        </p:spPr>
        <p:txBody>
          <a:bodyPr wrap="square" lIns="0" tIns="0" rIns="0" bIns="0" rtlCol="0" anchor="ctr"/>
          <a:lstStyle/>
          <a:p>
            <a:pPr marL="0" indent="0">
              <a:buNone/>
            </a:pPr>
            <a:r>
              <a:rPr lang="en-US" sz="1050" b="1" dirty="0">
                <a:solidFill>
                  <a:srgbClr val="071A3D"/>
                </a:solidFill>
              </a:rPr>
              <a:t>Zonas con mayor tasa de lluvia</a:t>
            </a:r>
            <a:endParaRPr lang="en-US" sz="1050" dirty="0"/>
          </a:p>
        </p:txBody>
      </p:sp>
      <p:sp>
        <p:nvSpPr>
          <p:cNvPr id="19" name="Text 15"/>
          <p:cNvSpPr/>
          <p:nvPr/>
        </p:nvSpPr>
        <p:spPr>
          <a:xfrm>
            <a:off x="4599432" y="4782312"/>
            <a:ext cx="3136392" cy="210312"/>
          </a:xfrm>
          <a:prstGeom prst="rect">
            <a:avLst/>
          </a:prstGeom>
          <a:noFill/>
        </p:spPr>
        <p:txBody>
          <a:bodyPr wrap="square" lIns="127" tIns="127" rIns="127" bIns="127" rtlCol="0" anchor="ctr">
            <a:normAutofit/>
          </a:bodyPr>
          <a:lstStyle/>
          <a:p>
            <a:pPr marL="0" indent="0">
              <a:buNone/>
            </a:pPr>
            <a:r>
              <a:rPr lang="en-US" sz="820" dirty="0">
                <a:solidFill>
                  <a:srgbClr val="111827"/>
                </a:solidFill>
              </a:rPr>
              <a:t>Portland, Walpole, Cairns, Mount Gambier y Norfolk Island concentran tasas reales más altas.</a:t>
            </a:r>
            <a:endParaRPr lang="en-US" sz="820" dirty="0"/>
          </a:p>
        </p:txBody>
      </p:sp>
      <p:sp>
        <p:nvSpPr>
          <p:cNvPr id="20" name="Shape 16"/>
          <p:cNvSpPr/>
          <p:nvPr/>
        </p:nvSpPr>
        <p:spPr>
          <a:xfrm>
            <a:off x="8046720" y="4343400"/>
            <a:ext cx="3429000" cy="777240"/>
          </a:xfrm>
          <a:prstGeom prst="roundRect">
            <a:avLst>
              <a:gd name="adj" fmla="val 9412"/>
            </a:avLst>
          </a:prstGeom>
          <a:solidFill>
            <a:srgbClr val="FFFFFF"/>
          </a:solidFill>
          <a:ln w="12700">
            <a:solidFill>
              <a:srgbClr val="D9E5F3"/>
            </a:solidFill>
            <a:prstDash val="solid"/>
          </a:ln>
          <a:effectLst>
            <a:outerShdw blurRad="12700" dist="50800" dir="2700000" algn="bl" rotWithShape="0">
              <a:srgbClr val="000000">
                <a:alpha val="10000"/>
              </a:srgbClr>
            </a:outerShdw>
          </a:effectLst>
        </p:spPr>
      </p:sp>
      <p:sp>
        <p:nvSpPr>
          <p:cNvPr id="21" name="Shape 17"/>
          <p:cNvSpPr/>
          <p:nvPr/>
        </p:nvSpPr>
        <p:spPr>
          <a:xfrm>
            <a:off x="8046720" y="4343400"/>
            <a:ext cx="82296" cy="777240"/>
          </a:xfrm>
          <a:prstGeom prst="rect">
            <a:avLst/>
          </a:prstGeom>
          <a:solidFill>
            <a:srgbClr val="F4A261"/>
          </a:solidFill>
          <a:ln w="12700">
            <a:solidFill>
              <a:srgbClr val="F4A261"/>
            </a:solidFill>
            <a:prstDash val="solid"/>
          </a:ln>
        </p:spPr>
      </p:sp>
      <p:sp>
        <p:nvSpPr>
          <p:cNvPr id="22" name="Text 18"/>
          <p:cNvSpPr/>
          <p:nvPr/>
        </p:nvSpPr>
        <p:spPr>
          <a:xfrm>
            <a:off x="8211312" y="4480560"/>
            <a:ext cx="3136392" cy="201168"/>
          </a:xfrm>
          <a:prstGeom prst="rect">
            <a:avLst/>
          </a:prstGeom>
          <a:noFill/>
        </p:spPr>
        <p:txBody>
          <a:bodyPr wrap="square" lIns="0" tIns="0" rIns="0" bIns="0" rtlCol="0" anchor="ctr"/>
          <a:lstStyle/>
          <a:p>
            <a:pPr marL="0" indent="0">
              <a:buNone/>
            </a:pPr>
            <a:r>
              <a:rPr lang="en-US" sz="1050" b="1" dirty="0">
                <a:solidFill>
                  <a:srgbClr val="071A3D"/>
                </a:solidFill>
              </a:rPr>
              <a:t>Uso para el negocio</a:t>
            </a:r>
            <a:endParaRPr lang="en-US" sz="1050" dirty="0"/>
          </a:p>
        </p:txBody>
      </p:sp>
      <p:sp>
        <p:nvSpPr>
          <p:cNvPr id="23" name="Text 19"/>
          <p:cNvSpPr/>
          <p:nvPr/>
        </p:nvSpPr>
        <p:spPr>
          <a:xfrm>
            <a:off x="8211312" y="4782312"/>
            <a:ext cx="3136392" cy="210312"/>
          </a:xfrm>
          <a:prstGeom prst="rect">
            <a:avLst/>
          </a:prstGeom>
          <a:noFill/>
        </p:spPr>
        <p:txBody>
          <a:bodyPr wrap="square" lIns="127" tIns="127" rIns="127" bIns="127" rtlCol="0" anchor="ctr">
            <a:normAutofit/>
          </a:bodyPr>
          <a:lstStyle/>
          <a:p>
            <a:pPr marL="0" indent="0">
              <a:buNone/>
            </a:pPr>
            <a:r>
              <a:rPr lang="en-US" sz="820" dirty="0">
                <a:solidFill>
                  <a:srgbClr val="111827"/>
                </a:solidFill>
              </a:rPr>
              <a:t>Priorizar monitoreo en zonas críticas y revisar ubicaciones donde la predicción se separa más de la realidad.</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a_wide_dark_blue_digital_infographic_background.png"/>
          <p:cNvPicPr>
            <a:picLocks noChangeAspect="1"/>
          </p:cNvPicPr>
          <p:nvPr/>
        </p:nvPicPr>
        <p:blipFill>
          <a:blip r:embed="rId1"/>
          <a:srcRect r="-51"/>
          <a:stretch>
            <a:fillRect/>
          </a:stretch>
        </p:blipFill>
        <p:spPr>
          <a:xfrm>
            <a:off x="0" y="0"/>
            <a:ext cx="12191695" cy="6858000"/>
          </a:xfrm>
          <a:prstGeom prst="rect">
            <a:avLst/>
          </a:prstGeom>
        </p:spPr>
      </p:pic>
      <p:sp>
        <p:nvSpPr>
          <p:cNvPr id="3" name="Text 0"/>
          <p:cNvSpPr/>
          <p:nvPr/>
        </p:nvSpPr>
        <p:spPr>
          <a:xfrm>
            <a:off x="685800" y="548640"/>
            <a:ext cx="6583680" cy="411480"/>
          </a:xfrm>
          <a:prstGeom prst="rect">
            <a:avLst/>
          </a:prstGeom>
          <a:noFill/>
        </p:spPr>
        <p:txBody>
          <a:bodyPr wrap="square" lIns="0" tIns="0" rIns="0" bIns="0" rtlCol="0" anchor="ctr"/>
          <a:lstStyle/>
          <a:p>
            <a:pPr marL="0" indent="0">
              <a:buNone/>
            </a:pPr>
            <a:r>
              <a:rPr lang="en-US" sz="2800" b="1" dirty="0">
                <a:solidFill>
                  <a:srgbClr val="FFFFFF"/>
                </a:solidFill>
              </a:rPr>
              <a:t>Conclusiones y continuidad</a:t>
            </a:r>
            <a:endParaRPr lang="en-US" sz="2800" dirty="0"/>
          </a:p>
        </p:txBody>
      </p:sp>
      <p:sp>
        <p:nvSpPr>
          <p:cNvPr id="4" name="Text 1"/>
          <p:cNvSpPr/>
          <p:nvPr/>
        </p:nvSpPr>
        <p:spPr>
          <a:xfrm>
            <a:off x="713232" y="1024128"/>
            <a:ext cx="7315200" cy="237744"/>
          </a:xfrm>
          <a:prstGeom prst="rect">
            <a:avLst/>
          </a:prstGeom>
          <a:noFill/>
        </p:spPr>
        <p:txBody>
          <a:bodyPr wrap="square" lIns="0" tIns="0" rIns="0" bIns="0" rtlCol="0" anchor="ctr"/>
          <a:lstStyle/>
          <a:p>
            <a:pPr marL="0" indent="0">
              <a:buNone/>
            </a:pPr>
            <a:r>
              <a:rPr lang="en-US" sz="1150" dirty="0">
                <a:solidFill>
                  <a:srgbClr val="D8F4FF"/>
                </a:solidFill>
              </a:rPr>
              <a:t>El proyecto no termina en el modelo: termina cuando los resultados se interpretan y se convierten en decisiones.</a:t>
            </a:r>
            <a:endParaRPr lang="en-US" sz="1150" dirty="0"/>
          </a:p>
        </p:txBody>
      </p:sp>
      <p:sp>
        <p:nvSpPr>
          <p:cNvPr id="5" name="Shape 2"/>
          <p:cNvSpPr/>
          <p:nvPr/>
        </p:nvSpPr>
        <p:spPr>
          <a:xfrm>
            <a:off x="777240" y="1828800"/>
            <a:ext cx="4983480" cy="960120"/>
          </a:xfrm>
          <a:prstGeom prst="roundRect">
            <a:avLst>
              <a:gd name="adj" fmla="val 7619"/>
            </a:avLst>
          </a:prstGeom>
          <a:solidFill>
            <a:srgbClr val="FFFFFF"/>
          </a:solidFill>
          <a:ln w="12700">
            <a:solidFill>
              <a:srgbClr val="7BBFEA">
                <a:alpha val="70000"/>
              </a:srgbClr>
            </a:solidFill>
            <a:prstDash val="solid"/>
          </a:ln>
          <a:effectLst>
            <a:outerShdw blurRad="12700" dist="50800" dir="2700000" algn="bl" rotWithShape="0">
              <a:srgbClr val="000000">
                <a:alpha val="12000"/>
              </a:srgbClr>
            </a:outerShdw>
          </a:effectLst>
        </p:spPr>
      </p:sp>
      <p:sp>
        <p:nvSpPr>
          <p:cNvPr id="6" name="Text 3"/>
          <p:cNvSpPr/>
          <p:nvPr/>
        </p:nvSpPr>
        <p:spPr>
          <a:xfrm>
            <a:off x="941832" y="1984248"/>
            <a:ext cx="329184" cy="292608"/>
          </a:xfrm>
          <a:prstGeom prst="rect">
            <a:avLst/>
          </a:prstGeom>
          <a:noFill/>
        </p:spPr>
        <p:txBody>
          <a:bodyPr wrap="square" lIns="0" tIns="0" rIns="0" bIns="0" rtlCol="0" anchor="ctr"/>
          <a:lstStyle/>
          <a:p>
            <a:pPr marL="0" indent="0">
              <a:buNone/>
            </a:pPr>
            <a:r>
              <a:rPr lang="en-US" sz="1600" b="1" dirty="0">
                <a:solidFill>
                  <a:srgbClr val="53D5F6"/>
                </a:solidFill>
              </a:rPr>
              <a:t>1</a:t>
            </a:r>
            <a:endParaRPr lang="en-US" sz="1600" dirty="0"/>
          </a:p>
        </p:txBody>
      </p:sp>
      <p:sp>
        <p:nvSpPr>
          <p:cNvPr id="7" name="Text 4"/>
          <p:cNvSpPr/>
          <p:nvPr/>
        </p:nvSpPr>
        <p:spPr>
          <a:xfrm>
            <a:off x="1380744" y="1975104"/>
            <a:ext cx="4114800" cy="201168"/>
          </a:xfrm>
          <a:prstGeom prst="rect">
            <a:avLst/>
          </a:prstGeom>
          <a:noFill/>
        </p:spPr>
        <p:txBody>
          <a:bodyPr wrap="square" lIns="0" tIns="0" rIns="0" bIns="0" rtlCol="0" anchor="ctr"/>
          <a:lstStyle/>
          <a:p>
            <a:pPr marL="0" indent="0">
              <a:buNone/>
            </a:pPr>
            <a:r>
              <a:rPr lang="en-US" sz="1200" b="1" dirty="0">
                <a:solidFill>
                  <a:srgbClr val="071A3D"/>
                </a:solidFill>
              </a:rPr>
              <a:t>Usar el Árbol como apoyo</a:t>
            </a:r>
            <a:endParaRPr lang="en-US" sz="1200" dirty="0"/>
          </a:p>
        </p:txBody>
      </p:sp>
      <p:sp>
        <p:nvSpPr>
          <p:cNvPr id="8" name="Text 5"/>
          <p:cNvSpPr/>
          <p:nvPr/>
        </p:nvSpPr>
        <p:spPr>
          <a:xfrm>
            <a:off x="1380744" y="2267712"/>
            <a:ext cx="4069080" cy="301752"/>
          </a:xfrm>
          <a:prstGeom prst="rect">
            <a:avLst/>
          </a:prstGeom>
          <a:noFill/>
        </p:spPr>
        <p:txBody>
          <a:bodyPr wrap="square" lIns="0" tIns="0" rIns="0" bIns="0" rtlCol="0" anchor="ctr">
            <a:normAutofit/>
          </a:bodyPr>
          <a:lstStyle/>
          <a:p>
            <a:pPr marL="0" indent="0">
              <a:buNone/>
            </a:pPr>
            <a:r>
              <a:rPr lang="en-US" sz="850" dirty="0">
                <a:solidFill>
                  <a:srgbClr val="111827"/>
                </a:solidFill>
              </a:rPr>
              <a:t>Aplicarlo como alerta preventiva, no como decisión automática única.</a:t>
            </a:r>
            <a:endParaRPr lang="en-US" sz="850" dirty="0"/>
          </a:p>
        </p:txBody>
      </p:sp>
      <p:sp>
        <p:nvSpPr>
          <p:cNvPr id="9" name="Shape 6"/>
          <p:cNvSpPr/>
          <p:nvPr/>
        </p:nvSpPr>
        <p:spPr>
          <a:xfrm>
            <a:off x="6217920" y="1828800"/>
            <a:ext cx="4983480" cy="960120"/>
          </a:xfrm>
          <a:prstGeom prst="roundRect">
            <a:avLst>
              <a:gd name="adj" fmla="val 7619"/>
            </a:avLst>
          </a:prstGeom>
          <a:solidFill>
            <a:srgbClr val="FFFFFF"/>
          </a:solidFill>
          <a:ln w="12700">
            <a:solidFill>
              <a:srgbClr val="7BBFEA">
                <a:alpha val="70000"/>
              </a:srgbClr>
            </a:solidFill>
            <a:prstDash val="solid"/>
          </a:ln>
          <a:effectLst>
            <a:outerShdw blurRad="12700" dist="50800" dir="2700000" algn="bl" rotWithShape="0">
              <a:srgbClr val="000000">
                <a:alpha val="12000"/>
              </a:srgbClr>
            </a:outerShdw>
          </a:effectLst>
        </p:spPr>
      </p:sp>
      <p:sp>
        <p:nvSpPr>
          <p:cNvPr id="10" name="Text 7"/>
          <p:cNvSpPr/>
          <p:nvPr/>
        </p:nvSpPr>
        <p:spPr>
          <a:xfrm>
            <a:off x="6382512" y="1984248"/>
            <a:ext cx="329184" cy="292608"/>
          </a:xfrm>
          <a:prstGeom prst="rect">
            <a:avLst/>
          </a:prstGeom>
          <a:noFill/>
        </p:spPr>
        <p:txBody>
          <a:bodyPr wrap="square" lIns="0" tIns="0" rIns="0" bIns="0" rtlCol="0" anchor="ctr"/>
          <a:lstStyle/>
          <a:p>
            <a:pPr marL="0" indent="0">
              <a:buNone/>
            </a:pPr>
            <a:r>
              <a:rPr lang="en-US" sz="1600" b="1" dirty="0">
                <a:solidFill>
                  <a:srgbClr val="53D5F6"/>
                </a:solidFill>
              </a:rPr>
              <a:t>2</a:t>
            </a:r>
            <a:endParaRPr lang="en-US" sz="1600" dirty="0"/>
          </a:p>
        </p:txBody>
      </p:sp>
      <p:sp>
        <p:nvSpPr>
          <p:cNvPr id="11" name="Text 8"/>
          <p:cNvSpPr/>
          <p:nvPr/>
        </p:nvSpPr>
        <p:spPr>
          <a:xfrm>
            <a:off x="6821424" y="1975104"/>
            <a:ext cx="4114800" cy="201168"/>
          </a:xfrm>
          <a:prstGeom prst="rect">
            <a:avLst/>
          </a:prstGeom>
          <a:noFill/>
        </p:spPr>
        <p:txBody>
          <a:bodyPr wrap="square" lIns="0" tIns="0" rIns="0" bIns="0" rtlCol="0" anchor="ctr"/>
          <a:lstStyle/>
          <a:p>
            <a:pPr marL="0" indent="0">
              <a:buNone/>
            </a:pPr>
            <a:r>
              <a:rPr lang="en-US" sz="1200" b="1" dirty="0">
                <a:solidFill>
                  <a:srgbClr val="071A3D"/>
                </a:solidFill>
              </a:rPr>
              <a:t>Monitorear zonas críticas</a:t>
            </a:r>
            <a:endParaRPr lang="en-US" sz="1200" dirty="0"/>
          </a:p>
        </p:txBody>
      </p:sp>
      <p:sp>
        <p:nvSpPr>
          <p:cNvPr id="12" name="Text 9"/>
          <p:cNvSpPr/>
          <p:nvPr/>
        </p:nvSpPr>
        <p:spPr>
          <a:xfrm>
            <a:off x="6821424" y="2267712"/>
            <a:ext cx="4069080" cy="301752"/>
          </a:xfrm>
          <a:prstGeom prst="rect">
            <a:avLst/>
          </a:prstGeom>
          <a:noFill/>
        </p:spPr>
        <p:txBody>
          <a:bodyPr wrap="square" lIns="0" tIns="0" rIns="0" bIns="0" rtlCol="0" anchor="ctr">
            <a:normAutofit/>
          </a:bodyPr>
          <a:lstStyle/>
          <a:p>
            <a:pPr marL="0" indent="0">
              <a:buNone/>
            </a:pPr>
            <a:r>
              <a:rPr lang="en-US" sz="850" dirty="0">
                <a:solidFill>
                  <a:srgbClr val="111827"/>
                </a:solidFill>
              </a:rPr>
              <a:t>Focalizar ubicaciones con mayor lluvia, tasa real y diferencia pred-real.</a:t>
            </a:r>
            <a:endParaRPr lang="en-US" sz="850" dirty="0"/>
          </a:p>
        </p:txBody>
      </p:sp>
      <p:sp>
        <p:nvSpPr>
          <p:cNvPr id="13" name="Shape 10"/>
          <p:cNvSpPr/>
          <p:nvPr/>
        </p:nvSpPr>
        <p:spPr>
          <a:xfrm>
            <a:off x="777240" y="3154680"/>
            <a:ext cx="4983480" cy="960120"/>
          </a:xfrm>
          <a:prstGeom prst="roundRect">
            <a:avLst>
              <a:gd name="adj" fmla="val 7619"/>
            </a:avLst>
          </a:prstGeom>
          <a:solidFill>
            <a:srgbClr val="FFFFFF"/>
          </a:solidFill>
          <a:ln w="12700">
            <a:solidFill>
              <a:srgbClr val="7BBFEA">
                <a:alpha val="70000"/>
              </a:srgbClr>
            </a:solidFill>
            <a:prstDash val="solid"/>
          </a:ln>
          <a:effectLst>
            <a:outerShdw blurRad="12700" dist="50800" dir="2700000" algn="bl" rotWithShape="0">
              <a:srgbClr val="000000">
                <a:alpha val="12000"/>
              </a:srgbClr>
            </a:outerShdw>
          </a:effectLst>
        </p:spPr>
      </p:sp>
      <p:sp>
        <p:nvSpPr>
          <p:cNvPr id="14" name="Text 11"/>
          <p:cNvSpPr/>
          <p:nvPr/>
        </p:nvSpPr>
        <p:spPr>
          <a:xfrm>
            <a:off x="941832" y="3310128"/>
            <a:ext cx="329184" cy="292608"/>
          </a:xfrm>
          <a:prstGeom prst="rect">
            <a:avLst/>
          </a:prstGeom>
          <a:noFill/>
        </p:spPr>
        <p:txBody>
          <a:bodyPr wrap="square" lIns="0" tIns="0" rIns="0" bIns="0" rtlCol="0" anchor="ctr"/>
          <a:lstStyle/>
          <a:p>
            <a:pPr marL="0" indent="0">
              <a:buNone/>
            </a:pPr>
            <a:r>
              <a:rPr lang="en-US" sz="1600" b="1" dirty="0">
                <a:solidFill>
                  <a:srgbClr val="53D5F6"/>
                </a:solidFill>
              </a:rPr>
              <a:t>3</a:t>
            </a:r>
            <a:endParaRPr lang="en-US" sz="1600" dirty="0"/>
          </a:p>
        </p:txBody>
      </p:sp>
      <p:sp>
        <p:nvSpPr>
          <p:cNvPr id="15" name="Text 12"/>
          <p:cNvSpPr/>
          <p:nvPr/>
        </p:nvSpPr>
        <p:spPr>
          <a:xfrm>
            <a:off x="1380744" y="3300984"/>
            <a:ext cx="4114800" cy="201168"/>
          </a:xfrm>
          <a:prstGeom prst="rect">
            <a:avLst/>
          </a:prstGeom>
          <a:noFill/>
        </p:spPr>
        <p:txBody>
          <a:bodyPr wrap="square" lIns="0" tIns="0" rIns="0" bIns="0" rtlCol="0" anchor="ctr"/>
          <a:lstStyle/>
          <a:p>
            <a:pPr marL="0" indent="0">
              <a:buNone/>
            </a:pPr>
            <a:r>
              <a:rPr lang="en-US" sz="1200" b="1" dirty="0">
                <a:solidFill>
                  <a:srgbClr val="071A3D"/>
                </a:solidFill>
              </a:rPr>
              <a:t>Calibrar y mejorar</a:t>
            </a:r>
            <a:endParaRPr lang="en-US" sz="1200" dirty="0"/>
          </a:p>
        </p:txBody>
      </p:sp>
      <p:sp>
        <p:nvSpPr>
          <p:cNvPr id="16" name="Text 13"/>
          <p:cNvSpPr/>
          <p:nvPr/>
        </p:nvSpPr>
        <p:spPr>
          <a:xfrm>
            <a:off x="1380744" y="3593592"/>
            <a:ext cx="4069080" cy="301752"/>
          </a:xfrm>
          <a:prstGeom prst="rect">
            <a:avLst/>
          </a:prstGeom>
          <a:noFill/>
        </p:spPr>
        <p:txBody>
          <a:bodyPr wrap="square" lIns="0" tIns="0" rIns="0" bIns="0" rtlCol="0" anchor="ctr">
            <a:normAutofit/>
          </a:bodyPr>
          <a:lstStyle/>
          <a:p>
            <a:pPr marL="0" indent="0">
              <a:buNone/>
            </a:pPr>
            <a:r>
              <a:rPr lang="en-US" sz="850" dirty="0">
                <a:solidFill>
                  <a:srgbClr val="111827"/>
                </a:solidFill>
              </a:rPr>
              <a:t>Ajustar umbrales y probar modelos no lineales para reducir errores.</a:t>
            </a:r>
            <a:endParaRPr lang="en-US" sz="850" dirty="0"/>
          </a:p>
        </p:txBody>
      </p:sp>
      <p:sp>
        <p:nvSpPr>
          <p:cNvPr id="17" name="Shape 14"/>
          <p:cNvSpPr/>
          <p:nvPr/>
        </p:nvSpPr>
        <p:spPr>
          <a:xfrm>
            <a:off x="6217920" y="3154680"/>
            <a:ext cx="4983480" cy="960120"/>
          </a:xfrm>
          <a:prstGeom prst="roundRect">
            <a:avLst>
              <a:gd name="adj" fmla="val 7619"/>
            </a:avLst>
          </a:prstGeom>
          <a:solidFill>
            <a:srgbClr val="FFFFFF"/>
          </a:solidFill>
          <a:ln w="12700">
            <a:solidFill>
              <a:srgbClr val="7BBFEA">
                <a:alpha val="70000"/>
              </a:srgbClr>
            </a:solidFill>
            <a:prstDash val="solid"/>
          </a:ln>
          <a:effectLst>
            <a:outerShdw blurRad="12700" dist="50800" dir="2700000" algn="bl" rotWithShape="0">
              <a:srgbClr val="000000">
                <a:alpha val="12000"/>
              </a:srgbClr>
            </a:outerShdw>
          </a:effectLst>
        </p:spPr>
      </p:sp>
      <p:sp>
        <p:nvSpPr>
          <p:cNvPr id="18" name="Text 15"/>
          <p:cNvSpPr/>
          <p:nvPr/>
        </p:nvSpPr>
        <p:spPr>
          <a:xfrm>
            <a:off x="6382512" y="3310128"/>
            <a:ext cx="329184" cy="292608"/>
          </a:xfrm>
          <a:prstGeom prst="rect">
            <a:avLst/>
          </a:prstGeom>
          <a:noFill/>
        </p:spPr>
        <p:txBody>
          <a:bodyPr wrap="square" lIns="0" tIns="0" rIns="0" bIns="0" rtlCol="0" anchor="ctr"/>
          <a:lstStyle/>
          <a:p>
            <a:pPr marL="0" indent="0">
              <a:buNone/>
            </a:pPr>
            <a:r>
              <a:rPr lang="en-US" sz="1600" b="1" dirty="0">
                <a:solidFill>
                  <a:srgbClr val="53D5F6"/>
                </a:solidFill>
              </a:rPr>
              <a:t>4</a:t>
            </a:r>
            <a:endParaRPr lang="en-US" sz="1600" dirty="0"/>
          </a:p>
        </p:txBody>
      </p:sp>
      <p:sp>
        <p:nvSpPr>
          <p:cNvPr id="19" name="Text 16"/>
          <p:cNvSpPr/>
          <p:nvPr/>
        </p:nvSpPr>
        <p:spPr>
          <a:xfrm>
            <a:off x="6821424" y="3300984"/>
            <a:ext cx="4114800" cy="201168"/>
          </a:xfrm>
          <a:prstGeom prst="rect">
            <a:avLst/>
          </a:prstGeom>
          <a:noFill/>
        </p:spPr>
        <p:txBody>
          <a:bodyPr wrap="square" lIns="0" tIns="0" rIns="0" bIns="0" rtlCol="0" anchor="ctr"/>
          <a:lstStyle/>
          <a:p>
            <a:pPr marL="0" indent="0">
              <a:buNone/>
            </a:pPr>
            <a:r>
              <a:rPr lang="en-US" sz="1200" b="1" dirty="0">
                <a:solidFill>
                  <a:srgbClr val="071A3D"/>
                </a:solidFill>
              </a:rPr>
              <a:t>Automatizar el flujo</a:t>
            </a:r>
            <a:endParaRPr lang="en-US" sz="1200" dirty="0"/>
          </a:p>
        </p:txBody>
      </p:sp>
      <p:sp>
        <p:nvSpPr>
          <p:cNvPr id="20" name="Text 17"/>
          <p:cNvSpPr/>
          <p:nvPr/>
        </p:nvSpPr>
        <p:spPr>
          <a:xfrm>
            <a:off x="6821424" y="3593592"/>
            <a:ext cx="4069080" cy="301752"/>
          </a:xfrm>
          <a:prstGeom prst="rect">
            <a:avLst/>
          </a:prstGeom>
          <a:noFill/>
        </p:spPr>
        <p:txBody>
          <a:bodyPr wrap="square" lIns="0" tIns="0" rIns="0" bIns="0" rtlCol="0" anchor="ctr">
            <a:normAutofit/>
          </a:bodyPr>
          <a:lstStyle/>
          <a:p>
            <a:pPr marL="0" indent="0">
              <a:buNone/>
            </a:pPr>
            <a:r>
              <a:rPr lang="en-US" sz="850" dirty="0">
                <a:solidFill>
                  <a:srgbClr val="111827"/>
                </a:solidFill>
              </a:rPr>
              <a:t>Carga de datos, ejecución del modelo y actualización del dashboard en Power BI.</a:t>
            </a:r>
            <a:endParaRPr lang="en-US" sz="850" dirty="0"/>
          </a:p>
        </p:txBody>
      </p:sp>
      <p:sp>
        <p:nvSpPr>
          <p:cNvPr id="21" name="Shape 18"/>
          <p:cNvSpPr/>
          <p:nvPr/>
        </p:nvSpPr>
        <p:spPr>
          <a:xfrm>
            <a:off x="749935" y="4320540"/>
            <a:ext cx="10707370" cy="2039620"/>
          </a:xfrm>
          <a:prstGeom prst="roundRect">
            <a:avLst>
              <a:gd name="adj" fmla="val 4580"/>
            </a:avLst>
          </a:prstGeom>
          <a:solidFill>
            <a:srgbClr val="FFFFFF"/>
          </a:solidFill>
          <a:ln w="12700">
            <a:solidFill>
              <a:srgbClr val="D6E4F2"/>
            </a:solidFill>
            <a:prstDash val="solid"/>
          </a:ln>
          <a:effectLst>
            <a:outerShdw blurRad="12700" dist="50800" dir="2700000" algn="bl" rotWithShape="0">
              <a:srgbClr val="000000">
                <a:alpha val="12000"/>
              </a:srgbClr>
            </a:outerShdw>
          </a:effectLst>
        </p:spPr>
      </p:sp>
      <p:pic>
        <p:nvPicPr>
          <p:cNvPr id="22" name="Image 1" descr="/mnt/data/ppt_assets/monitoring_kpis_errors.png"/>
          <p:cNvPicPr>
            <a:picLocks noChangeAspect="1"/>
          </p:cNvPicPr>
          <p:nvPr/>
        </p:nvPicPr>
        <p:blipFill>
          <a:blip r:embed="rId2"/>
          <a:stretch>
            <a:fillRect/>
          </a:stretch>
        </p:blipFill>
        <p:spPr>
          <a:xfrm>
            <a:off x="4229850" y="4892040"/>
            <a:ext cx="3747541" cy="1143000"/>
          </a:xfrm>
          <a:prstGeom prst="rect">
            <a:avLst/>
          </a:prstGeom>
        </p:spPr>
      </p:pic>
      <p:sp>
        <p:nvSpPr>
          <p:cNvPr id="23" name="Text 19"/>
          <p:cNvSpPr/>
          <p:nvPr/>
        </p:nvSpPr>
        <p:spPr>
          <a:xfrm>
            <a:off x="777240" y="6459220"/>
            <a:ext cx="8686800" cy="228600"/>
          </a:xfrm>
          <a:prstGeom prst="rect">
            <a:avLst/>
          </a:prstGeom>
          <a:noFill/>
        </p:spPr>
        <p:txBody>
          <a:bodyPr wrap="square" lIns="0" tIns="0" rIns="0" bIns="0" rtlCol="0" anchor="ctr"/>
          <a:lstStyle/>
          <a:p>
            <a:pPr marL="0" indent="0">
              <a:buNone/>
            </a:pPr>
            <a:r>
              <a:rPr lang="en-US" sz="1050" dirty="0">
                <a:solidFill>
                  <a:srgbClr val="FFFFFF"/>
                </a:solidFill>
              </a:rPr>
              <a:t>Siguiente paso: convertir el análisis en un proceso recurrente de monitoreo climático con datos actualizados.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5847</Words>
  <Application>WPS Presentation</Application>
  <PresentationFormat>On-screen Show (16:9)</PresentationFormat>
  <Paragraphs>315</Paragraphs>
  <Slides>10</Slides>
  <Notes>10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Arial</vt:lpstr>
      <vt:lpstr>Arial</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DUOC UC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Predictivo de Lluvia en Australia</dc:title>
  <dc:creator>Leonel González</dc:creator>
  <dc:subject>Minería de Datos - Presentación Final</dc:subject>
  <cp:lastModifiedBy>Leonel González</cp:lastModifiedBy>
  <cp:revision>2</cp:revision>
  <dcterms:created xsi:type="dcterms:W3CDTF">2026-07-08T22:20:00Z</dcterms:created>
  <dcterms:modified xsi:type="dcterms:W3CDTF">2026-07-08T22:23:57Z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36DA9A8CECE344F2A63D2A399C98C4B6_12</vt:lpwstr>
  </property>
  <property fmtid="{D5CDD505-2E9C-101B-9397-08002B2CF9AE}" pid="3" name="KSOProductBuildVer">
    <vt:lpwstr>1033-12.1.0.26880</vt:lpwstr>
  </property>
</Properties>
</file>